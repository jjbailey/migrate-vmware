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2011680" cy="292608"/>
          </a:xfrm>
          <a:prstGeom prst="roundRect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ENGINEERING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667512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FFFFF"/>
                </a:solidFill>
                <a:latin typeface="Noto Sans"/>
              </a:defRPr>
            </a:pPr>
            <a:r>
              <a:t>VMware migration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FFFFF"/>
                </a:solidFill>
                <a:latin typeface="Noto Sans"/>
              </a:defRPr>
            </a:pPr>
            <a:r>
              <a:t>without the 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697480"/>
            <a:ext cx="61264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6E1E2"/>
                </a:solidFill>
                <a:latin typeface="Noto Sans"/>
              </a:defRPr>
            </a:pPr>
            <a:r>
              <a:t>Clone safely. Export per run. Land natively.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429000"/>
            <a:ext cx="61264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EB5BA"/>
                </a:solidFill>
                <a:latin typeface="Noto Sans"/>
              </a:defRPr>
            </a:pPr>
            <a:r>
              <a:t>Ansible-driven migration of a running vSphere VM into AWS, OpenStack, or Google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440680"/>
            <a:ext cx="5212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B5BA"/>
                </a:solidFill>
                <a:latin typeface="Noto Sans"/>
              </a:defRPr>
            </a:pPr>
            <a:r>
              <a:t>VSPHERE  /  AWS  /  OPENSTACK  /  GCP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52360" y="1234440"/>
            <a:ext cx="0" cy="4206240"/>
          </a:xfrm>
          <a:prstGeom prst="line">
            <a:avLst/>
          </a:prstGeom>
          <a:ln w="25400">
            <a:solidFill>
              <a:srgbClr val="486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06056" y="1289304"/>
            <a:ext cx="292608" cy="292608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078992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362456"/>
            <a:ext cx="3063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quiesce + full clone</a:t>
            </a:r>
          </a:p>
        </p:txBody>
      </p:sp>
      <p:sp>
        <p:nvSpPr>
          <p:cNvPr id="12" name="Oval 11"/>
          <p:cNvSpPr/>
          <p:nvPr/>
        </p:nvSpPr>
        <p:spPr>
          <a:xfrm>
            <a:off x="7306056" y="2450592"/>
            <a:ext cx="292608" cy="292608"/>
          </a:xfrm>
          <a:prstGeom prst="ellipse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240280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4AD3A"/>
                </a:solidFill>
                <a:latin typeface="Noto Sans"/>
              </a:defRPr>
            </a:pPr>
            <a:r>
              <a:t>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523744"/>
            <a:ext cx="3063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OVF / OVA + manifest</a:t>
            </a:r>
          </a:p>
        </p:txBody>
      </p:sp>
      <p:sp>
        <p:nvSpPr>
          <p:cNvPr id="15" name="Oval 14"/>
          <p:cNvSpPr/>
          <p:nvPr/>
        </p:nvSpPr>
        <p:spPr>
          <a:xfrm>
            <a:off x="7306056" y="3611879"/>
            <a:ext cx="292608" cy="292608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401568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978A8"/>
                </a:solidFill>
                <a:latin typeface="Noto Sans"/>
              </a:defRPr>
            </a:pPr>
            <a:r>
              <a:t>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685031"/>
            <a:ext cx="3063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native cloud path</a:t>
            </a:r>
          </a:p>
        </p:txBody>
      </p:sp>
      <p:sp>
        <p:nvSpPr>
          <p:cNvPr id="18" name="Oval 17"/>
          <p:cNvSpPr/>
          <p:nvPr/>
        </p:nvSpPr>
        <p:spPr>
          <a:xfrm>
            <a:off x="7306056" y="4773168"/>
            <a:ext cx="292608" cy="292608"/>
          </a:xfrm>
          <a:prstGeom prst="ellipse">
            <a:avLst/>
          </a:prstGeom>
          <a:solidFill>
            <a:srgbClr val="4D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562856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D8766"/>
                </a:solidFill>
                <a:latin typeface="Noto Sans"/>
              </a:defRPr>
            </a:pPr>
            <a:r>
              <a:t>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4846320"/>
            <a:ext cx="3063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from the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PROTECT 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The source VM never powers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36192"/>
            <a:ext cx="3383280" cy="4160520"/>
          </a:xfrm>
          <a:prstGeom prst="roundRect">
            <a:avLst/>
          </a:prstGeom>
          <a:solidFill>
            <a:srgbClr val="D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10512"/>
            <a:ext cx="1371600" cy="292608"/>
          </a:xfrm>
          <a:prstGeom prst="roundRect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9656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SOURCE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42A"/>
                </a:solidFill>
                <a:latin typeface="Noto Sans"/>
              </a:defRPr>
            </a:pPr>
            <a:r>
              <a:t>Keeps running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36391"/>
            <a:ext cx="91440" cy="91440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035808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no outage window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66744"/>
            <a:ext cx="91440" cy="91440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566160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no reboot, no reconfiguration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97096"/>
            <a:ext cx="91440" cy="91440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096511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untouched after the snapshot</a:t>
            </a:r>
          </a:p>
        </p:txBody>
      </p:sp>
      <p:sp>
        <p:nvSpPr>
          <p:cNvPr id="16" name="Chevron 15"/>
          <p:cNvSpPr/>
          <p:nvPr/>
        </p:nvSpPr>
        <p:spPr>
          <a:xfrm>
            <a:off x="4224528" y="3291840"/>
            <a:ext cx="457200" cy="548640"/>
          </a:xfrm>
          <a:prstGeom prst="chevron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01184" y="1536192"/>
            <a:ext cx="3383280" cy="4160520"/>
          </a:xfrm>
          <a:prstGeom prst="roundRect">
            <a:avLst/>
          </a:prstGeom>
          <a:solidFill>
            <a:srgbClr val="F4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75504" y="1810512"/>
            <a:ext cx="1371600" cy="292608"/>
          </a:xfrm>
          <a:prstGeom prst="roundRect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819656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331720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42A"/>
                </a:solidFill>
                <a:latin typeface="Noto Sans"/>
              </a:defRPr>
            </a:pPr>
            <a:r>
              <a:t>Consistent boundary</a:t>
            </a:r>
          </a:p>
        </p:txBody>
      </p:sp>
      <p:sp>
        <p:nvSpPr>
          <p:cNvPr id="21" name="Oval 20"/>
          <p:cNvSpPr/>
          <p:nvPr/>
        </p:nvSpPr>
        <p:spPr>
          <a:xfrm>
            <a:off x="5193792" y="3136391"/>
            <a:ext cx="91440" cy="91440"/>
          </a:xfrm>
          <a:prstGeom prst="ellipse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3035808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quiesced through VMware Tools</a:t>
            </a:r>
          </a:p>
        </p:txBody>
      </p:sp>
      <p:sp>
        <p:nvSpPr>
          <p:cNvPr id="23" name="Oval 22"/>
          <p:cNvSpPr/>
          <p:nvPr/>
        </p:nvSpPr>
        <p:spPr>
          <a:xfrm>
            <a:off x="5193792" y="3666744"/>
            <a:ext cx="91440" cy="91440"/>
          </a:xfrm>
          <a:prstGeom prst="ellipse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3566160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one point in time for every disk</a:t>
            </a:r>
          </a:p>
        </p:txBody>
      </p:sp>
      <p:sp>
        <p:nvSpPr>
          <p:cNvPr id="25" name="Oval 24"/>
          <p:cNvSpPr/>
          <p:nvPr/>
        </p:nvSpPr>
        <p:spPr>
          <a:xfrm>
            <a:off x="5193792" y="4197096"/>
            <a:ext cx="91440" cy="91440"/>
          </a:xfrm>
          <a:prstGeom prst="ellipse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8" y="4096511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removed when the run completes</a:t>
            </a:r>
          </a:p>
        </p:txBody>
      </p:sp>
      <p:sp>
        <p:nvSpPr>
          <p:cNvPr id="27" name="Chevron 26"/>
          <p:cNvSpPr/>
          <p:nvPr/>
        </p:nvSpPr>
        <p:spPr>
          <a:xfrm>
            <a:off x="8503920" y="3291840"/>
            <a:ext cx="457200" cy="548640"/>
          </a:xfrm>
          <a:prstGeom prst="chevron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0576" y="1536192"/>
            <a:ext cx="2377440" cy="41605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18320" y="1810512"/>
            <a:ext cx="1280160" cy="292608"/>
          </a:xfrm>
          <a:prstGeom prst="roundRect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819656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FULL CLONE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331720"/>
            <a:ext cx="20116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42A"/>
                </a:solidFill>
                <a:latin typeface="Noto Sans"/>
              </a:defRPr>
            </a:pPr>
            <a:r>
              <a:t>Disposable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42A"/>
                </a:solidFill>
                <a:latin typeface="Noto Sans"/>
              </a:defRPr>
            </a:pPr>
            <a:r>
              <a:t>export copy</a:t>
            </a:r>
          </a:p>
        </p:txBody>
      </p:sp>
      <p:sp>
        <p:nvSpPr>
          <p:cNvPr id="32" name="Oval 31"/>
          <p:cNvSpPr/>
          <p:nvPr/>
        </p:nvSpPr>
        <p:spPr>
          <a:xfrm>
            <a:off x="9436608" y="3410712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6064" y="3310128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created powered off</a:t>
            </a:r>
          </a:p>
        </p:txBody>
      </p:sp>
      <p:sp>
        <p:nvSpPr>
          <p:cNvPr id="34" name="Oval 33"/>
          <p:cNvSpPr/>
          <p:nvPr/>
        </p:nvSpPr>
        <p:spPr>
          <a:xfrm>
            <a:off x="9436608" y="3941064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4" y="3840480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exported by ovftool</a:t>
            </a:r>
          </a:p>
        </p:txBody>
      </p:sp>
      <p:sp>
        <p:nvSpPr>
          <p:cNvPr id="36" name="Oval 35"/>
          <p:cNvSpPr/>
          <p:nvPr/>
        </p:nvSpPr>
        <p:spPr>
          <a:xfrm>
            <a:off x="9436608" y="4471416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4370832"/>
            <a:ext cx="17922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42A"/>
                </a:solidFill>
                <a:latin typeface="Noto Sans"/>
              </a:defRPr>
            </a:pPr>
            <a:r>
              <a:t>deleted after import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870448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7595C"/>
                </a:solidFill>
                <a:latin typeface="Noto Sans"/>
              </a:defRPr>
            </a:pPr>
            <a:r>
              <a:t>The clone is the only thing that leaves vSphere. The original keeps serving traffic.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Shared export flow. Separate target runs.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2011680" cy="292608"/>
          </a:xfrm>
          <a:prstGeom prst="roundRect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COMMON RUN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29384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preflight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286000"/>
            <a:ext cx="0" cy="109728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2395728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5059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78024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snapshot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834640"/>
            <a:ext cx="0" cy="109728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2944368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9923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26663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clone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3383279"/>
            <a:ext cx="0" cy="109729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3493008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75303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OVF / OVA export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3931920"/>
            <a:ext cx="0" cy="109728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4041648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96511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123944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manifest inspection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94560" y="4480560"/>
            <a:ext cx="0" cy="109728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" y="4590288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45151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672583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catalog append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94560" y="5029200"/>
            <a:ext cx="0" cy="109727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8368" y="5138927"/>
            <a:ext cx="3063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93791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221223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cleanup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3721608" y="2240280"/>
            <a:ext cx="804672" cy="1325880"/>
          </a:xfrm>
          <a:prstGeom prst="line">
            <a:avLst/>
          </a:prstGeom>
          <a:ln w="25400">
            <a:solidFill>
              <a:srgbClr val="08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21608" y="3566160"/>
            <a:ext cx="804672" cy="0"/>
          </a:xfrm>
          <a:prstGeom prst="line">
            <a:avLst/>
          </a:prstGeom>
          <a:ln w="25400">
            <a:solidFill>
              <a:srgbClr val="08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1608" y="3566160"/>
            <a:ext cx="804672" cy="1325880"/>
          </a:xfrm>
          <a:prstGeom prst="line">
            <a:avLst/>
          </a:prstGeom>
          <a:ln w="25400">
            <a:solidFill>
              <a:srgbClr val="08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0" y="1417320"/>
            <a:ext cx="2103120" cy="292608"/>
          </a:xfrm>
          <a:prstGeom prst="roundRect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1426464"/>
            <a:ext cx="21031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TARGET-SPECIFIC EDGE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1847088"/>
            <a:ext cx="6949440" cy="1078992"/>
          </a:xfrm>
          <a:prstGeom prst="roundRect">
            <a:avLst/>
          </a:prstGeom>
          <a:solidFill>
            <a:srgbClr val="F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28032" y="1993392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5D43"/>
                </a:solidFill>
                <a:latin typeface="Noto Sans"/>
              </a:defRPr>
            </a:pPr>
            <a:r>
              <a:t>AWS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011680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DejaVu Sans Mono"/>
              </a:defRPr>
            </a:pPr>
            <a:r>
              <a:t>OVA -&gt; S3 -&gt; VM Import -&gt; AMI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414016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one AMI, block devices intact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3172968"/>
            <a:ext cx="6949440" cy="1078992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28032" y="3319272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978A8"/>
                </a:solidFill>
                <a:latin typeface="Noto Sans"/>
              </a:defRPr>
            </a:pPr>
            <a:r>
              <a:t>OpenStack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3337560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DejaVu Sans Mono"/>
              </a:defRPr>
            </a:pPr>
            <a:r>
              <a:t>VMDK -&gt; QCOW2 -&gt; Glance images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739896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one image per disk, boot first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4498848"/>
            <a:ext cx="6949440" cy="1078992"/>
          </a:xfrm>
          <a:prstGeom prst="roundRect">
            <a:avLst/>
          </a:prstGeom>
          <a:solidFill>
            <a:srgbClr val="E1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28032" y="4645152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8766"/>
                </a:solidFill>
                <a:latin typeface="Noto Sans"/>
              </a:defRPr>
            </a:pPr>
            <a:r>
              <a:t>Google Cloud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663440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DejaVu Sans Mono"/>
              </a:defRPr>
            </a:pPr>
            <a:r>
              <a:t>VMDK -&gt; Cloud Storage -&gt; M2VM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065776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Compute images, boot disk adapted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870448"/>
            <a:ext cx="6949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7242A"/>
                </a:solidFill>
                <a:latin typeface="Noto Sans"/>
              </a:defRPr>
            </a:pPr>
            <a:r>
              <a:t>Each target run repeats snapshot, clone, and export before its own target import.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ARTIFACT AND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The manifest is the handoff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1920240" cy="292608"/>
          </a:xfrm>
          <a:prstGeom prst="roundRect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53896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EXPORT MANIFEST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4023360" cy="3584448"/>
          </a:xfrm>
          <a:prstGeom prst="roundRect">
            <a:avLst/>
          </a:prstGeom>
          <a:solidFill>
            <a:srgbClr val="12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disk_count: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210312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79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disks[0].index: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468879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39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disks[0].path: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834639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export-disk1.vmdk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disks[0].capacity_bytes: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320040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42949672960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disks[0].boot_candidate: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356616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disks[1].index: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79" y="393192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disks[1].capacity_bytes: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79" y="429768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2147483648000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6344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8CC9C9"/>
                </a:solidFill>
                <a:latin typeface="DejaVu Sans Mono"/>
              </a:defRPr>
            </a:pPr>
            <a:r>
              <a:t>source_mac_addresses: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466344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DejaVu Sans Mono"/>
              </a:defRPr>
            </a:pPr>
            <a:r>
              <a:t>[00:50:56:..]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3566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FC4C6"/>
                </a:solidFill>
                <a:latin typeface="Noto Sans"/>
              </a:defRPr>
            </a:pPr>
            <a:r>
              <a:t>target-neutral  /  inspected before upload</a:t>
            </a:r>
          </a:p>
        </p:txBody>
      </p:sp>
      <p:sp>
        <p:nvSpPr>
          <p:cNvPr id="26" name="Chevron 25"/>
          <p:cNvSpPr/>
          <p:nvPr/>
        </p:nvSpPr>
        <p:spPr>
          <a:xfrm>
            <a:off x="4937760" y="3383280"/>
            <a:ext cx="420624" cy="502920"/>
          </a:xfrm>
          <a:prstGeom prst="chevron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0" y="1444752"/>
            <a:ext cx="1737360" cy="292608"/>
          </a:xfrm>
          <a:prstGeom prst="roundRect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1453896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CATALOG ENTRY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1847088"/>
            <a:ext cx="5852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194767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595C"/>
                </a:solidFill>
                <a:latin typeface="DejaVu Sans Mono"/>
              </a:defRPr>
            </a:pPr>
            <a:r>
              <a:t>vm_name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947672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the source VM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359152"/>
            <a:ext cx="5852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2459736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595C"/>
                </a:solidFill>
                <a:latin typeface="DejaVu Sans Mono"/>
              </a:defRPr>
            </a:pPr>
            <a:r>
              <a:t>snapshot_name + clone_name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459736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what was exported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2871216"/>
            <a:ext cx="5852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0448" y="29718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595C"/>
                </a:solidFill>
                <a:latin typeface="DejaVu Sans Mono"/>
              </a:defRPr>
            </a:pPr>
            <a:r>
              <a:t>target_platform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971800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aws / openstack / gcp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3383280"/>
            <a:ext cx="5852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0448" y="3483864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595C"/>
                </a:solidFill>
                <a:latin typeface="DejaVu Sans Mono"/>
              </a:defRPr>
            </a:pPr>
            <a:r>
              <a:t>artifact_type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483864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ova / qcow2 / vmdk set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0" y="3895344"/>
            <a:ext cx="5852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0448" y="3995928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595C"/>
                </a:solidFill>
                <a:latin typeface="DejaVu Sans Mono"/>
              </a:defRPr>
            </a:pPr>
            <a:r>
              <a:t>artifact_manifest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995928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the manifest above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4407408"/>
            <a:ext cx="5852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70448" y="450799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595C"/>
                </a:solidFill>
                <a:latin typeface="DejaVu Sans Mono"/>
              </a:defRPr>
            </a:pPr>
            <a:r>
              <a:t>target 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507992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AMI, image IDs, selfLinks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4919472"/>
            <a:ext cx="58521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5020056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7595C"/>
                </a:solidFill>
                <a:latin typeface="DejaVu Sans Mono"/>
              </a:defRPr>
            </a:pPr>
            <a:r>
              <a:t>status + migrated_at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020056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evidence for launch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80644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Noto Sans"/>
              </a:defRPr>
            </a:pPr>
            <a:r>
              <a:t>One run: source, clone, target, and result tied together in catalogs/migration-catalog.json.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TARGET PATH: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AWS: stage in S3, import to an AMI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9601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C6A70"/>
                </a:solidFill>
                <a:latin typeface="Noto Sans"/>
              </a:defRPr>
            </a:pPr>
            <a:r>
              <a:t>The whole OVA is the import unit. VM Import builds the AMI with every disk attached.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17373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5D43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8833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A70"/>
                </a:solidFill>
                <a:latin typeface="Noto Sans"/>
              </a:defRPr>
            </a:pPr>
            <a:r>
              <a:t>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17520"/>
            <a:ext cx="1463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s3 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A70"/>
                </a:solidFill>
                <a:latin typeface="Noto Sans"/>
              </a:defRPr>
            </a:pPr>
            <a:r>
              <a:t>multipart, resumable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22191"/>
            <a:ext cx="1737360" cy="109728"/>
          </a:xfrm>
          <a:prstGeom prst="rect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505456" y="2834640"/>
            <a:ext cx="256032" cy="420624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71215" y="2194560"/>
            <a:ext cx="17373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35915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4AD3A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68833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A70"/>
                </a:solidFill>
                <a:latin typeface="Noto Sans"/>
              </a:defRPr>
            </a:pPr>
            <a:r>
              <a:t>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017520"/>
            <a:ext cx="1463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import-image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45643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A70"/>
                </a:solidFill>
                <a:latin typeface="Noto Sans"/>
              </a:defRPr>
            </a:pPr>
            <a:r>
              <a:t>vmimport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71215" y="3822191"/>
            <a:ext cx="1737360" cy="109728"/>
          </a:xfrm>
          <a:prstGeom prst="rect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4718304" y="2834640"/>
            <a:ext cx="256032" cy="420624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4064" y="2194560"/>
            <a:ext cx="17373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5" y="235915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978A8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5" y="268833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A70"/>
                </a:solidFill>
                <a:latin typeface="Noto Sans"/>
              </a:defRPr>
            </a:pPr>
            <a:r>
              <a:t>POLL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5" y="3017520"/>
            <a:ext cx="1463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import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345643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A70"/>
                </a:solidFill>
                <a:latin typeface="Noto Sans"/>
              </a:defRPr>
            </a:pPr>
            <a:r>
              <a:t>until 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4064" y="3822191"/>
            <a:ext cx="1737360" cy="109728"/>
          </a:xfrm>
          <a:prstGeom prst="rect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6931152" y="2834640"/>
            <a:ext cx="256032" cy="420624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96912" y="2194560"/>
            <a:ext cx="17373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1504" y="235915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E82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268833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A70"/>
                </a:solidFill>
                <a:latin typeface="Noto Sans"/>
              </a:defRPr>
            </a:pPr>
            <a:r>
              <a:t>TAG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3017520"/>
            <a:ext cx="1463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Name tag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504" y="345643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A70"/>
                </a:solidFill>
                <a:latin typeface="Noto Sans"/>
              </a:defRPr>
            </a:pPr>
            <a:r>
              <a:t>AMI = vm_name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822191"/>
            <a:ext cx="1737360" cy="109728"/>
          </a:xfrm>
          <a:prstGeom prst="rect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9144000" y="2834640"/>
            <a:ext cx="256032" cy="420624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09760" y="2194560"/>
            <a:ext cx="17373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2359152"/>
            <a:ext cx="3840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D8766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2688336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A70"/>
                </a:solidFill>
                <a:latin typeface="Noto Sans"/>
              </a:defRPr>
            </a:pPr>
            <a:r>
              <a:t>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3017520"/>
            <a:ext cx="1463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catalog 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45643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6A70"/>
                </a:solidFill>
                <a:latin typeface="Noto Sans"/>
              </a:defRPr>
            </a:pPr>
            <a:r>
              <a:t>region, AMI, task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3822191"/>
            <a:ext cx="1737360" cy="109728"/>
          </a:xfrm>
          <a:prstGeom prst="rect">
            <a:avLst/>
          </a:prstGeom>
          <a:solidFill>
            <a:srgbClr val="4D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" y="4434840"/>
            <a:ext cx="5257800" cy="1234440"/>
          </a:xfrm>
          <a:prstGeom prst="roundRect">
            <a:avLst/>
          </a:prstGeom>
          <a:solidFill>
            <a:srgbClr val="F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61772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5D43"/>
                </a:solidFill>
                <a:latin typeface="Noto Sans"/>
              </a:defRPr>
            </a:pPr>
            <a:r>
              <a:t>ON FAILURE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9377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17242A"/>
                </a:solidFill>
                <a:latin typeface="Noto Sans"/>
              </a:defRPr>
            </a:pPr>
            <a:r>
              <a:t>The unfinished import is cancelled; the staged OVA stays in S3 for a follow-up import without re-export.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434840"/>
            <a:ext cx="5303520" cy="1234440"/>
          </a:xfrm>
          <a:prstGeom prst="roundRect">
            <a:avLst/>
          </a:prstGeom>
          <a:solidFill>
            <a:srgbClr val="E1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461772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D8766"/>
                </a:solidFill>
                <a:latin typeface="Noto Sans"/>
              </a:defRPr>
            </a:pPr>
            <a:r>
              <a:t>ON SUCCESS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4937760"/>
            <a:ext cx="4800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17242A"/>
                </a:solidFill>
                <a:latin typeface="Noto Sans"/>
              </a:defRPr>
            </a:pPr>
            <a:r>
              <a:t>The S3 object, clone, and snapshot are removed. The catalog keeps ami_id, aws_region, and import_task_id.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TARGET PATH: OPENSTACK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OpenStack: one Glance image per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C6A70"/>
                </a:solidFill>
                <a:latin typeface="Noto Sans"/>
              </a:defRPr>
            </a:pPr>
            <a:r>
              <a:t>Each VMDK becomes its own QCOW2 and its own image. Conversion of the next disk overlaps the upload of this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VMDK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96596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QEMU-IMG CONVERT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96596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QCOW2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96596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GLANCE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9572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disk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97480"/>
            <a:ext cx="2011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E82"/>
                </a:solidFill>
                <a:latin typeface="Noto Sans"/>
              </a:defRPr>
            </a:pPr>
            <a:r>
              <a:t>boot candidate</a:t>
            </a:r>
          </a:p>
        </p:txBody>
      </p:sp>
      <p:sp>
        <p:nvSpPr>
          <p:cNvPr id="14" name="Chevron 13"/>
          <p:cNvSpPr/>
          <p:nvPr/>
        </p:nvSpPr>
        <p:spPr>
          <a:xfrm>
            <a:off x="3127248" y="2450592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1568" y="2286000"/>
            <a:ext cx="2377440" cy="731520"/>
          </a:xfrm>
          <a:prstGeom prst="roundRect">
            <a:avLst/>
          </a:prstGeom>
          <a:solidFill>
            <a:srgbClr val="D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51460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E82"/>
                </a:solidFill>
                <a:latin typeface="Noto Sans"/>
              </a:defRPr>
            </a:pPr>
            <a:r>
              <a:t>convert</a:t>
            </a:r>
          </a:p>
        </p:txBody>
      </p:sp>
      <p:sp>
        <p:nvSpPr>
          <p:cNvPr id="17" name="Chevron 16"/>
          <p:cNvSpPr/>
          <p:nvPr/>
        </p:nvSpPr>
        <p:spPr>
          <a:xfrm>
            <a:off x="5870448" y="2450592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28600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51460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DejaVu Sans Mono"/>
              </a:defRPr>
            </a:pPr>
            <a:r>
              <a:t>disk 0.qcow2</a:t>
            </a:r>
          </a:p>
        </p:txBody>
      </p:sp>
      <p:sp>
        <p:nvSpPr>
          <p:cNvPr id="20" name="Chevron 19"/>
          <p:cNvSpPr/>
          <p:nvPr/>
        </p:nvSpPr>
        <p:spPr>
          <a:xfrm>
            <a:off x="8613648" y="2450592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87968" y="2286000"/>
            <a:ext cx="2651760" cy="731520"/>
          </a:xfrm>
          <a:prstGeom prst="roundRect">
            <a:avLst/>
          </a:prstGeom>
          <a:solidFill>
            <a:srgbClr val="D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39572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42A"/>
                </a:solidFill>
                <a:latin typeface="DejaVu Sans Mono"/>
              </a:defRPr>
            </a:pPr>
            <a:r>
              <a:t>&lt;prefix&gt;-disk-0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697480"/>
            <a:ext cx="23774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E82"/>
                </a:solidFill>
                <a:latin typeface="Noto Sans"/>
              </a:defRPr>
            </a:pPr>
            <a:r>
              <a:t>hw_firmware_type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4612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35584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disk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657600"/>
            <a:ext cx="2011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978A8"/>
                </a:solidFill>
                <a:latin typeface="Noto Sans"/>
              </a:defRPr>
            </a:pPr>
            <a:r>
              <a:t>data disk</a:t>
            </a:r>
          </a:p>
        </p:txBody>
      </p:sp>
      <p:sp>
        <p:nvSpPr>
          <p:cNvPr id="27" name="Chevron 26"/>
          <p:cNvSpPr/>
          <p:nvPr/>
        </p:nvSpPr>
        <p:spPr>
          <a:xfrm>
            <a:off x="3127248" y="3410712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01568" y="3246120"/>
            <a:ext cx="2377440" cy="7315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347472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978A8"/>
                </a:solidFill>
                <a:latin typeface="Noto Sans"/>
              </a:defRPr>
            </a:pPr>
            <a:r>
              <a:t>convert</a:t>
            </a:r>
          </a:p>
        </p:txBody>
      </p:sp>
      <p:sp>
        <p:nvSpPr>
          <p:cNvPr id="30" name="Chevron 29"/>
          <p:cNvSpPr/>
          <p:nvPr/>
        </p:nvSpPr>
        <p:spPr>
          <a:xfrm>
            <a:off x="5870448" y="3410712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44768" y="324612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347472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DejaVu Sans Mono"/>
              </a:defRPr>
            </a:pPr>
            <a:r>
              <a:t>disk 1.qcow2</a:t>
            </a:r>
          </a:p>
        </p:txBody>
      </p:sp>
      <p:sp>
        <p:nvSpPr>
          <p:cNvPr id="33" name="Chevron 32"/>
          <p:cNvSpPr/>
          <p:nvPr/>
        </p:nvSpPr>
        <p:spPr>
          <a:xfrm>
            <a:off x="8613648" y="3410712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87968" y="3246120"/>
            <a:ext cx="2651760" cy="7315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335584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42A"/>
                </a:solidFill>
                <a:latin typeface="DejaVu Sans Mono"/>
              </a:defRPr>
            </a:pPr>
            <a:r>
              <a:t>&lt;prefix&gt;-disk-1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657600"/>
            <a:ext cx="23774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978A8"/>
                </a:solidFill>
                <a:latin typeface="Noto Sans"/>
              </a:defRPr>
            </a:pPr>
            <a:r>
              <a:t>Cinder volume at launch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20624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DejaVu Sans Mono"/>
              </a:defRPr>
            </a:pPr>
            <a:r>
              <a:t>disk 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4617720"/>
            <a:ext cx="2011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978A8"/>
                </a:solidFill>
                <a:latin typeface="Noto Sans"/>
              </a:defRPr>
            </a:pPr>
            <a:r>
              <a:t>data disk</a:t>
            </a:r>
          </a:p>
        </p:txBody>
      </p:sp>
      <p:sp>
        <p:nvSpPr>
          <p:cNvPr id="40" name="Chevron 39"/>
          <p:cNvSpPr/>
          <p:nvPr/>
        </p:nvSpPr>
        <p:spPr>
          <a:xfrm>
            <a:off x="3127248" y="4370831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01568" y="4206240"/>
            <a:ext cx="2377440" cy="7315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01568" y="443484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978A8"/>
                </a:solidFill>
                <a:latin typeface="Noto Sans"/>
              </a:defRPr>
            </a:pPr>
            <a:r>
              <a:t>convert</a:t>
            </a:r>
          </a:p>
        </p:txBody>
      </p:sp>
      <p:sp>
        <p:nvSpPr>
          <p:cNvPr id="43" name="Chevron 42"/>
          <p:cNvSpPr/>
          <p:nvPr/>
        </p:nvSpPr>
        <p:spPr>
          <a:xfrm>
            <a:off x="5870448" y="4370831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44768" y="420624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443484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DejaVu Sans Mono"/>
              </a:defRPr>
            </a:pPr>
            <a:r>
              <a:t>disk n.qcow2</a:t>
            </a:r>
          </a:p>
        </p:txBody>
      </p:sp>
      <p:sp>
        <p:nvSpPr>
          <p:cNvPr id="46" name="Chevron 45"/>
          <p:cNvSpPr/>
          <p:nvPr/>
        </p:nvSpPr>
        <p:spPr>
          <a:xfrm>
            <a:off x="8613648" y="4370831"/>
            <a:ext cx="274320" cy="402336"/>
          </a:xfrm>
          <a:prstGeom prst="chevron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87968" y="4206240"/>
            <a:ext cx="2651760" cy="7315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431596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42A"/>
                </a:solidFill>
                <a:latin typeface="DejaVu Sans Mono"/>
              </a:defRPr>
            </a:pPr>
            <a:r>
              <a:t>&lt;prefix&gt;-disk-n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4617720"/>
            <a:ext cx="23774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978A8"/>
                </a:solidFill>
                <a:latin typeface="Noto Sans"/>
              </a:defRPr>
            </a:pPr>
            <a:r>
              <a:t>Cinder volume at launch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25780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422392"/>
            <a:ext cx="4754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42A"/>
                </a:solidFill>
                <a:latin typeface="Noto Sans"/>
              </a:defRPr>
            </a:pPr>
            <a:r>
              <a:t>Peak staging space is two QCOW2 files, never the whole set. Disks already in Glance are skipped on resume.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25780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5422392"/>
            <a:ext cx="4800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42A"/>
                </a:solidFill>
                <a:latin typeface="Noto Sans"/>
              </a:defRPr>
            </a:pPr>
            <a:r>
              <a:t>Launch uses image 0 and Cinder volumes; source MACs can be reused. Optional: bin/stage-v2v.sh prepares CentOS 7 static-IP guests for DHCP.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TARGET PATH: GCP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Google Cloud: Cloud Storage to Migrate to VMs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C6A70"/>
                </a:solidFill>
                <a:latin typeface="Noto Sans"/>
              </a:defRPr>
            </a:pPr>
            <a:r>
              <a:t>Three phases: stage every VMDK, start every import, then wait. Total time is the slowest disk, not the sum.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81360" cy="1024128"/>
          </a:xfrm>
          <a:prstGeom prst="roundRect">
            <a:avLst/>
          </a:prstGeom>
          <a:solidFill>
            <a:srgbClr val="F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12264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5D43"/>
                </a:solidFill>
                <a:latin typeface="Noto Sans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42A"/>
                </a:solidFill>
                <a:latin typeface="Noto Sans"/>
              </a:defRPr>
            </a:pPr>
            <a:r>
              <a:t>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12264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42A"/>
                </a:solidFill>
                <a:latin typeface="DejaVu Sans Mono"/>
              </a:defRPr>
            </a:pPr>
            <a:r>
              <a:t>gcloud storage 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2316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VMDK -&gt; gs://bucket/prefix/disk-N.vmdk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40279"/>
            <a:ext cx="4023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42A"/>
                </a:solidFill>
                <a:latin typeface="Noto Sans"/>
              </a:defRPr>
            </a:pPr>
            <a:r>
              <a:t>parallel chunks; existing objects reused on resume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72968"/>
            <a:ext cx="10881360" cy="1024128"/>
          </a:xfrm>
          <a:prstGeom prst="roundRect">
            <a:avLst/>
          </a:prstGeom>
          <a:solidFill>
            <a:srgbClr val="F4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19272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4AD3A"/>
                </a:solidFill>
                <a:latin typeface="Noto Sans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57015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42A"/>
                </a:solidFill>
                <a:latin typeface="Noto Sans"/>
              </a:defRPr>
            </a:pPr>
            <a:r>
              <a:t>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19272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42A"/>
                </a:solidFill>
                <a:latin typeface="DejaVu Sans Mono"/>
              </a:defRPr>
            </a:pPr>
            <a:r>
              <a:t>gcloud migration vms image-imports 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630168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one job per disk, all started before waiting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447287"/>
            <a:ext cx="4023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42A"/>
                </a:solidFill>
                <a:latin typeface="Noto Sans"/>
              </a:defRPr>
            </a:pPr>
            <a:r>
              <a:t>boot disk: OS adaptation; data disks: --skip-os-adaptation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79976"/>
            <a:ext cx="10881360" cy="1024128"/>
          </a:xfrm>
          <a:prstGeom prst="roundRect">
            <a:avLst/>
          </a:prstGeom>
          <a:solidFill>
            <a:srgbClr val="E1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D8766"/>
                </a:solidFill>
                <a:latin typeface="Noto Sans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42A"/>
                </a:solidFill>
                <a:latin typeface="Noto Sans"/>
              </a:defRPr>
            </a:pPr>
            <a:r>
              <a:t>Finish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2628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42A"/>
                </a:solidFill>
                <a:latin typeface="DejaVu Sans Mono"/>
              </a:defRPr>
            </a:pPr>
            <a:r>
              <a:t>poll each job, record selfLink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837176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Compute Engine image per disk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654296"/>
            <a:ext cx="40233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42A"/>
                </a:solidFill>
                <a:latin typeface="Noto Sans"/>
              </a:defRPr>
            </a:pPr>
            <a:r>
              <a:t>import resources removed when done; failures show service diagnostics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6928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D8766"/>
                </a:solidFill>
                <a:latin typeface="Noto Sans"/>
              </a:defRPr>
            </a:pPr>
            <a:r>
              <a:t>Launch creates the instance from the boot image and attaches persistent disks built from the data images.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TWO-STEP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Migration and launch are separate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577840" cy="4206240"/>
          </a:xfrm>
          <a:prstGeom prst="roundRect">
            <a:avLst/>
          </a:prstGeom>
          <a:solidFill>
            <a:srgbClr val="D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554480" cy="292608"/>
          </a:xfrm>
          <a:prstGeom prst="roundRect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15544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MIGRATE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286000"/>
            <a:ext cx="402336" cy="402336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4023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42A"/>
                </a:solidFill>
                <a:latin typeface="Noto Sans"/>
              </a:defRPr>
            </a:pPr>
            <a:r>
              <a:t>snapshot and clone the source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035808"/>
            <a:ext cx="402336" cy="402336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08960"/>
            <a:ext cx="4023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81527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42A"/>
                </a:solidFill>
                <a:latin typeface="Noto Sans"/>
              </a:defRPr>
            </a:pPr>
            <a:r>
              <a:t>export, import, and poll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785615"/>
            <a:ext cx="402336" cy="402336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58768"/>
            <a:ext cx="4023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31336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42A"/>
                </a:solidFill>
                <a:latin typeface="Noto Sans"/>
              </a:defRPr>
            </a:pPr>
            <a:r>
              <a:t>record the result in the catalog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535423"/>
            <a:ext cx="402336" cy="402336"/>
          </a:xfrm>
          <a:prstGeom prst="ellipse">
            <a:avLst/>
          </a:prstGeom>
          <a:solidFill>
            <a:srgbClr val="087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08575"/>
            <a:ext cx="4023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81144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42A"/>
                </a:solidFill>
                <a:latin typeface="Noto Sans"/>
              </a:defRPr>
            </a:pPr>
            <a:r>
              <a:t>clean up clone, snapshot, staging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30368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7595C"/>
                </a:solidFill>
                <a:latin typeface="Noto Sans"/>
              </a:defRPr>
            </a:pPr>
            <a:r>
              <a:t>produces a cloud-native image set</a:t>
            </a:r>
          </a:p>
        </p:txBody>
      </p:sp>
      <p:sp>
        <p:nvSpPr>
          <p:cNvPr id="22" name="Chevron 21"/>
          <p:cNvSpPr/>
          <p:nvPr/>
        </p:nvSpPr>
        <p:spPr>
          <a:xfrm>
            <a:off x="6382512" y="3291840"/>
            <a:ext cx="457200" cy="548640"/>
          </a:xfrm>
          <a:prstGeom prst="chevron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95160" y="1481328"/>
            <a:ext cx="4526280" cy="420624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51192" y="1737360"/>
            <a:ext cx="1463040" cy="292608"/>
          </a:xfrm>
          <a:prstGeom prst="roundRect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1192" y="1746504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LAUNCH</a:t>
            </a:r>
          </a:p>
        </p:txBody>
      </p:sp>
      <p:sp>
        <p:nvSpPr>
          <p:cNvPr id="26" name="Oval 25"/>
          <p:cNvSpPr/>
          <p:nvPr/>
        </p:nvSpPr>
        <p:spPr>
          <a:xfrm>
            <a:off x="7269480" y="2432303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8936" y="2331720"/>
            <a:ext cx="380390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42A"/>
                </a:solidFill>
                <a:latin typeface="Noto Sans"/>
              </a:defRPr>
            </a:pPr>
            <a:r>
              <a:t>reads the newest completed entry</a:t>
            </a:r>
          </a:p>
        </p:txBody>
      </p:sp>
      <p:sp>
        <p:nvSpPr>
          <p:cNvPr id="28" name="Oval 27"/>
          <p:cNvSpPr/>
          <p:nvPr/>
        </p:nvSpPr>
        <p:spPr>
          <a:xfrm>
            <a:off x="7269480" y="3072384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8936" y="2971800"/>
            <a:ext cx="380390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42A"/>
                </a:solidFill>
                <a:latin typeface="Noto Sans"/>
              </a:defRPr>
            </a:pPr>
            <a:r>
              <a:t>or an explicit AMI / image ID</a:t>
            </a:r>
          </a:p>
        </p:txBody>
      </p:sp>
      <p:sp>
        <p:nvSpPr>
          <p:cNvPr id="30" name="Oval 29"/>
          <p:cNvSpPr/>
          <p:nvPr/>
        </p:nvSpPr>
        <p:spPr>
          <a:xfrm>
            <a:off x="7269480" y="3712463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8936" y="3611879"/>
            <a:ext cx="380390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42A"/>
                </a:solidFill>
                <a:latin typeface="Noto Sans"/>
              </a:defRPr>
            </a:pPr>
            <a:r>
              <a:t>creates instance + data disks</a:t>
            </a:r>
          </a:p>
        </p:txBody>
      </p:sp>
      <p:sp>
        <p:nvSpPr>
          <p:cNvPr id="32" name="Oval 31"/>
          <p:cNvSpPr/>
          <p:nvPr/>
        </p:nvSpPr>
        <p:spPr>
          <a:xfrm>
            <a:off x="7269480" y="4352544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88936" y="4251959"/>
            <a:ext cx="380390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42A"/>
                </a:solidFill>
                <a:latin typeface="Noto Sans"/>
              </a:defRPr>
            </a:pPr>
            <a:r>
              <a:t>records a deployment entry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5230368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978A8"/>
                </a:solidFill>
                <a:latin typeface="Noto Sans"/>
              </a:defRPr>
            </a:pPr>
            <a:r>
              <a:t>runs when someone decides it should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70448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42A"/>
                </a:solidFill>
                <a:latin typeface="Noto Sans"/>
              </a:defRPr>
            </a:pPr>
            <a:r>
              <a:t>Migration and launch can be rerun independently; recovery is target-specific.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REPOSITORY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Thin entry points over shared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3520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5D43"/>
                </a:solidFill>
                <a:latin typeface="DejaVu Sans Mono"/>
              </a:defRPr>
            </a:pPr>
            <a:r>
              <a:t>migrate-aws-vm.yml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14015" y="2121408"/>
            <a:ext cx="0" cy="347472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15968" y="1481328"/>
            <a:ext cx="3520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664208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978A8"/>
                </a:solidFill>
                <a:latin typeface="DejaVu Sans Mono"/>
              </a:defRPr>
            </a:pPr>
            <a:r>
              <a:t>migrate-openstack-vm.yml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71616" y="2121408"/>
            <a:ext cx="0" cy="347472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73568" y="1481328"/>
            <a:ext cx="3520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664208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D8766"/>
                </a:solidFill>
                <a:latin typeface="DejaVu Sans Mono"/>
              </a:defRPr>
            </a:pPr>
            <a:r>
              <a:t>migrate-gcp-vm.yml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29216" y="2121408"/>
            <a:ext cx="0" cy="347472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2468880"/>
            <a:ext cx="10835640" cy="1417320"/>
          </a:xfrm>
          <a:prstGeom prst="roundRect">
            <a:avLst/>
          </a:prstGeom>
          <a:solidFill>
            <a:srgbClr val="12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33472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B5BA"/>
                </a:solidFill>
                <a:latin typeface="DejaVu Sans Mono"/>
              </a:defRPr>
            </a:pPr>
            <a:r>
              <a:t>TASKS/MIGRATION/COMMON/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17520"/>
            <a:ext cx="1371600" cy="566928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7296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 Mono"/>
              </a:defRPr>
            </a:pPr>
            <a:r>
              <a:t>preflight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017520"/>
            <a:ext cx="1371600" cy="566928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17296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 Mono"/>
              </a:defRPr>
            </a:pPr>
            <a:r>
              <a:t>select-vcenter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017520"/>
            <a:ext cx="1371600" cy="566928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17296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 Mono"/>
              </a:defRPr>
            </a:pPr>
            <a:r>
              <a:t>export-ova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79" y="3017520"/>
            <a:ext cx="1371600" cy="566928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79" y="317296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 Mono"/>
              </a:defRPr>
            </a:pPr>
            <a:r>
              <a:t>load-manifest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3017520"/>
            <a:ext cx="1371600" cy="566928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17296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 Mono"/>
              </a:defRPr>
            </a:pPr>
            <a:r>
              <a:t>resume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3017520"/>
            <a:ext cx="1371600" cy="566928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17296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 Mono"/>
              </a:defRPr>
            </a:pPr>
            <a:r>
              <a:t>append-catalog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59" y="3017520"/>
            <a:ext cx="1371600" cy="566928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59" y="317296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DejaVu Sans Mono"/>
              </a:defRPr>
            </a:pPr>
            <a:r>
              <a:t>cleanup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14015" y="3886200"/>
            <a:ext cx="0" cy="320040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8368" y="4206240"/>
            <a:ext cx="3520440" cy="1645920"/>
          </a:xfrm>
          <a:prstGeom prst="roundRect">
            <a:avLst/>
          </a:prstGeom>
          <a:solidFill>
            <a:srgbClr val="F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34340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DejaVu Sans Mono"/>
              </a:defRPr>
            </a:pPr>
            <a:r>
              <a:t>AWS/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preflight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608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initialize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0109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import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8608" y="50109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build-catalog-entry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537667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cleanup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71616" y="3886200"/>
            <a:ext cx="0" cy="320040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315968" y="4206240"/>
            <a:ext cx="3520440" cy="16459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4568" y="434340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978A8"/>
                </a:solidFill>
                <a:latin typeface="DejaVu Sans Mono"/>
              </a:defRPr>
            </a:pPr>
            <a:r>
              <a:t>OPENSTACK/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preflight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initialize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50109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import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50109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build-catalog-entry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4568" y="537667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cleanup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729216" y="3886200"/>
            <a:ext cx="0" cy="320040"/>
          </a:xfrm>
          <a:prstGeom prst="line">
            <a:avLst/>
          </a:prstGeom>
          <a:ln w="25400">
            <a:solidFill>
              <a:srgbClr val="CAD2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973568" y="4206240"/>
            <a:ext cx="3520440" cy="1645920"/>
          </a:xfrm>
          <a:prstGeom prst="roundRect">
            <a:avLst/>
          </a:prstGeom>
          <a:solidFill>
            <a:srgbClr val="E1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2168" y="434340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D8766"/>
                </a:solidFill>
                <a:latin typeface="DejaVu Sans Mono"/>
              </a:defRPr>
            </a:pPr>
            <a:r>
              <a:t>GCP/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2168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preflight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initialize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02168" y="50109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import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93808" y="501091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build-catalog-entry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8" y="537667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242A"/>
                </a:solidFill>
                <a:latin typeface="DejaVu Sans Mono"/>
              </a:defRPr>
            </a:pPr>
            <a:r>
              <a:t>cleanup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598932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Noto Sans"/>
              </a:defRPr>
            </a:pPr>
            <a:r>
              <a:t>A new target adds one directory and one playbook. It never edits the front half.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MULTI-DISK GUESTS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Disk intent survives the crossing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1737360" cy="292608"/>
          </a:xfrm>
          <a:prstGeom prst="roundRect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53896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VSPHERE GUEST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3017520" cy="3611880"/>
          </a:xfrm>
          <a:prstGeom prst="roundRect">
            <a:avLst/>
          </a:prstGeom>
          <a:solidFill>
            <a:srgbClr val="12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2468880" cy="822960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1284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 Mono"/>
              </a:defRPr>
            </a:pPr>
            <a:r>
              <a:t>disk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31136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C9C9"/>
                </a:solidFill>
                <a:latin typeface="DejaVu Sans Mono"/>
              </a:defRPr>
            </a:pPr>
            <a:r>
              <a:t>40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FC4C6"/>
                </a:solidFill>
                <a:latin typeface="Noto Sans"/>
              </a:defRPr>
            </a:pPr>
            <a:r>
              <a:t>boot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54679"/>
            <a:ext cx="2468880" cy="822960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 Mono"/>
              </a:defRPr>
            </a:pPr>
            <a:r>
              <a:t>disk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82696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C9C9"/>
                </a:solidFill>
                <a:latin typeface="DejaVu Sans Mono"/>
              </a:defRPr>
            </a:pPr>
            <a:r>
              <a:t>2 TB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79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FC4C6"/>
                </a:solidFill>
                <a:latin typeface="Noto Sans"/>
              </a:defRPr>
            </a:pPr>
            <a:r>
              <a:t>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06240"/>
            <a:ext cx="2468880" cy="822960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1596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 Mono"/>
              </a:defRPr>
            </a:pPr>
            <a:r>
              <a:t>disk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334255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C9C9"/>
                </a:solidFill>
                <a:latin typeface="DejaVu Sans Mono"/>
              </a:defRPr>
            </a:pPr>
            <a:r>
              <a:t>500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FC4C6"/>
                </a:solidFill>
                <a:latin typeface="Noto Sans"/>
              </a:defRPr>
            </a:pPr>
            <a:r>
              <a:t>data</a:t>
            </a:r>
          </a:p>
        </p:txBody>
      </p:sp>
      <p:sp>
        <p:nvSpPr>
          <p:cNvPr id="21" name="Chevron 20"/>
          <p:cNvSpPr/>
          <p:nvPr/>
        </p:nvSpPr>
        <p:spPr>
          <a:xfrm>
            <a:off x="3886200" y="3401568"/>
            <a:ext cx="420624" cy="502920"/>
          </a:xfrm>
          <a:prstGeom prst="chevron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7" y="3977639"/>
            <a:ext cx="868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manifest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847088"/>
            <a:ext cx="6858000" cy="1051560"/>
          </a:xfrm>
          <a:prstGeom prst="roundRect">
            <a:avLst/>
          </a:prstGeom>
          <a:solidFill>
            <a:srgbClr val="F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199339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5D43"/>
                </a:solidFill>
                <a:latin typeface="Noto Sans"/>
              </a:defRPr>
            </a:pPr>
            <a:r>
              <a:t>AWS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975104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Noto Sans"/>
              </a:defRPr>
            </a:pPr>
            <a:r>
              <a:t>one AMI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350008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all three disks as block device mappings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081528"/>
            <a:ext cx="6858000" cy="105156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322783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978A8"/>
                </a:solidFill>
                <a:latin typeface="Noto Sans"/>
              </a:defRPr>
            </a:pPr>
            <a:r>
              <a:t>OpenStack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09544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Noto Sans"/>
              </a:defRPr>
            </a:pPr>
            <a:r>
              <a:t>image 0 boots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584448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images 1, 2 become Cinder volumes sized from capacity_bytes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4315968"/>
            <a:ext cx="6858000" cy="1051560"/>
          </a:xfrm>
          <a:prstGeom prst="roundRect">
            <a:avLst/>
          </a:prstGeom>
          <a:solidFill>
            <a:srgbClr val="E1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9472" y="446227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D8766"/>
                </a:solidFill>
                <a:latin typeface="Noto Sans"/>
              </a:defRPr>
            </a:pPr>
            <a:r>
              <a:t>Google 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443984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42A"/>
                </a:solidFill>
                <a:latin typeface="Noto Sans"/>
              </a:defRPr>
            </a:pPr>
            <a:r>
              <a:t>image 0 adapted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818888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A70"/>
                </a:solidFill>
                <a:latin typeface="Noto Sans"/>
              </a:defRPr>
            </a:pPr>
            <a:r>
              <a:t>images 1, 2 become attached persistent disks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06440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42A"/>
                </a:solidFill>
                <a:latin typeface="Noto Sans"/>
              </a:defRPr>
            </a:pPr>
            <a:r>
              <a:t>A boot disk plus separately managed data disks, not one opaque blob.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OPERATOR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A small command surface over cloud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2606040" cy="2331720"/>
          </a:xfrm>
          <a:prstGeom prst="roundRect">
            <a:avLst/>
          </a:prstGeom>
          <a:solidFill>
            <a:srgbClr val="D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642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E82"/>
                </a:solidFill>
                <a:latin typeface="Noto Sans"/>
              </a:defRPr>
            </a:pPr>
            <a:r>
              <a:t>MIGRATE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migrate-aws-vm.sh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6032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migrate-openstack-vm.sh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6324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migrate-gcp-vm.sh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481328"/>
            <a:ext cx="2606040" cy="23317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6642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978A8"/>
                </a:solidFill>
                <a:latin typeface="Noto Sans"/>
              </a:defRPr>
            </a:pPr>
            <a:r>
              <a:t>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05740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launch-*-instance.sh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56032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launch-*-dialog.sh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06324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vm_name or explicit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481328"/>
            <a:ext cx="2606040" cy="2331720"/>
          </a:xfrm>
          <a:prstGeom prst="roundRect">
            <a:avLst/>
          </a:prstGeom>
          <a:solidFill>
            <a:srgbClr val="F4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6642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4AD3A"/>
                </a:solidFill>
                <a:latin typeface="Noto Sans"/>
              </a:defRPr>
            </a:pPr>
            <a:r>
              <a:t>INSPECT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05740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inspect-ova.py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56032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lookup-migration-*.py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06324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-e resume_run_id=&lt;id&gt;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481328"/>
            <a:ext cx="2606040" cy="2331720"/>
          </a:xfrm>
          <a:prstGeom prst="roundRect">
            <a:avLst/>
          </a:prstGeom>
          <a:solidFill>
            <a:srgbClr val="E1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6642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D8766"/>
                </a:solidFill>
                <a:latin typeface="Noto Sans"/>
              </a:defRPr>
            </a:pPr>
            <a:r>
              <a:t>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05740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append-*-catalog.py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56032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reconcile-catalog-*.py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06324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--dry-run / --force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690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22452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E82"/>
                </a:solidFill>
                <a:latin typeface="Noto Sans"/>
              </a:defRPr>
            </a:pPr>
            <a:r>
              <a:t>Vaults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52628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vsphere, aws, openstack, gcp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864608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C6A70"/>
                </a:solidFill>
                <a:latin typeface="Noto Sans"/>
              </a:defRPr>
            </a:pPr>
            <a:r>
              <a:t>edit-vault.sh; multi-vCenter and multi-project keys in one 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0690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422452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978A8"/>
                </a:solidFill>
                <a:latin typeface="Noto Sans"/>
              </a:defRPr>
            </a:pPr>
            <a:r>
              <a:t>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52628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requirements.yml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4864608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C6A70"/>
                </a:solidFill>
                <a:latin typeface="Noto Sans"/>
              </a:defRPr>
            </a:pPr>
            <a:r>
              <a:t>pinned collections; validated ovftool 5.1.0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0690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2168" y="422452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D8766"/>
                </a:solidFill>
                <a:latin typeface="Noto Sans"/>
              </a:defRPr>
            </a:pPr>
            <a:r>
              <a:t>Wrappers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452628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42A"/>
                </a:solidFill>
                <a:latin typeface="DejaVu Sans Mono"/>
              </a:defRPr>
            </a:pPr>
            <a:r>
              <a:t>bin/*.sh over run-playbook.sh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4864608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C6A70"/>
                </a:solidFill>
                <a:latin typeface="Noto Sans"/>
              </a:defRPr>
            </a:pPr>
            <a:r>
              <a:t>dialogs prompt for flavor, network, keys, then run the playbook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89788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42A"/>
                </a:solidFill>
                <a:latin typeface="Noto Sans"/>
              </a:defRPr>
            </a:pPr>
            <a:r>
              <a:t>One clear wrapper per action. The playbooks stay reviewable and idempotent.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C6A70"/>
                </a:solidFill>
                <a:latin typeface="Noto Sans"/>
              </a:defRPr>
            </a:pPr>
            <a:r>
              <a:t>FAILURE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42A"/>
                </a:solidFill>
                <a:latin typeface="Noto Sans"/>
              </a:defRPr>
            </a:pPr>
            <a:r>
              <a:t>Controls that make retries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CAD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2606040" cy="3246120"/>
          </a:xfrm>
          <a:prstGeom prst="roundRect">
            <a:avLst/>
          </a:prstGeom>
          <a:solidFill>
            <a:srgbClr val="F4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6916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95D43"/>
                </a:solidFill>
                <a:latin typeface="Noto Sans"/>
              </a:defRPr>
            </a:pPr>
            <a:r>
              <a:t>Preflight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C6A70"/>
                </a:solidFill>
                <a:latin typeface="Noto Sans"/>
              </a:defRPr>
            </a:pPr>
            <a:r>
              <a:t>stop before export</a:t>
            </a:r>
          </a:p>
        </p:txBody>
      </p:sp>
      <p:sp>
        <p:nvSpPr>
          <p:cNvPr id="9" name="Oval 8"/>
          <p:cNvSpPr/>
          <p:nvPr/>
        </p:nvSpPr>
        <p:spPr>
          <a:xfrm>
            <a:off x="877824" y="2706624"/>
            <a:ext cx="91440" cy="91440"/>
          </a:xfrm>
          <a:prstGeom prst="ellipse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vault + credentials asserted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" y="3364992"/>
            <a:ext cx="91440" cy="91440"/>
          </a:xfrm>
          <a:prstGeom prst="ellipse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ovftool and govc present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4023360"/>
            <a:ext cx="91440" cy="91440"/>
          </a:xfrm>
          <a:prstGeom prst="ellipse">
            <a:avLst/>
          </a:prstGeom>
          <a:solidFill>
            <a:srgbClr val="D9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22776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bucket, role, project, quota checked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481328"/>
            <a:ext cx="2606040" cy="3246120"/>
          </a:xfrm>
          <a:prstGeom prst="roundRect">
            <a:avLst/>
          </a:prstGeom>
          <a:solidFill>
            <a:srgbClr val="F4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6916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4AD3A"/>
                </a:solidFill>
                <a:latin typeface="Noto Sans"/>
              </a:defRPr>
            </a:pPr>
            <a:r>
              <a:t>Poll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574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C6A70"/>
                </a:solidFill>
                <a:latin typeface="Noto Sans"/>
              </a:defRPr>
            </a:pPr>
            <a:r>
              <a:t>wait on the cloud</a:t>
            </a:r>
          </a:p>
        </p:txBody>
      </p:sp>
      <p:sp>
        <p:nvSpPr>
          <p:cNvPr id="18" name="Oval 17"/>
          <p:cNvSpPr/>
          <p:nvPr/>
        </p:nvSpPr>
        <p:spPr>
          <a:xfrm>
            <a:off x="3621024" y="2706624"/>
            <a:ext cx="91440" cy="91440"/>
          </a:xfrm>
          <a:prstGeom prst="ellipse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2606040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import task / job state</a:t>
            </a:r>
          </a:p>
        </p:txBody>
      </p:sp>
      <p:sp>
        <p:nvSpPr>
          <p:cNvPr id="20" name="Oval 19"/>
          <p:cNvSpPr/>
          <p:nvPr/>
        </p:nvSpPr>
        <p:spPr>
          <a:xfrm>
            <a:off x="3621024" y="3364992"/>
            <a:ext cx="91440" cy="91440"/>
          </a:xfrm>
          <a:prstGeom prst="ellipse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264408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bounded retries and delay</a:t>
            </a:r>
          </a:p>
        </p:txBody>
      </p:sp>
      <p:sp>
        <p:nvSpPr>
          <p:cNvPr id="22" name="Oval 21"/>
          <p:cNvSpPr/>
          <p:nvPr/>
        </p:nvSpPr>
        <p:spPr>
          <a:xfrm>
            <a:off x="3621024" y="4023360"/>
            <a:ext cx="91440" cy="91440"/>
          </a:xfrm>
          <a:prstGeom prst="ellipse">
            <a:avLst/>
          </a:prstGeom>
          <a:solidFill>
            <a:srgbClr val="E4A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3922776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service-side diagnostics on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1481328"/>
            <a:ext cx="2606040" cy="3246120"/>
          </a:xfrm>
          <a:prstGeom prst="roundRect">
            <a:avLst/>
          </a:prstGeom>
          <a:solidFill>
            <a:srgbClr val="E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6916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978A8"/>
                </a:solidFill>
                <a:latin typeface="Noto Sans"/>
              </a:defRPr>
            </a:pPr>
            <a:r>
              <a:t>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0574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C6A70"/>
                </a:solidFill>
                <a:latin typeface="Noto Sans"/>
              </a:defRPr>
            </a:pPr>
            <a:r>
              <a:t>preserve evidence</a:t>
            </a:r>
          </a:p>
        </p:txBody>
      </p:sp>
      <p:sp>
        <p:nvSpPr>
          <p:cNvPr id="27" name="Oval 26"/>
          <p:cNvSpPr/>
          <p:nvPr/>
        </p:nvSpPr>
        <p:spPr>
          <a:xfrm>
            <a:off x="6364224" y="2706624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606040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catalog entry after success</a:t>
            </a:r>
          </a:p>
        </p:txBody>
      </p:sp>
      <p:sp>
        <p:nvSpPr>
          <p:cNvPr id="29" name="Oval 28"/>
          <p:cNvSpPr/>
          <p:nvPr/>
        </p:nvSpPr>
        <p:spPr>
          <a:xfrm>
            <a:off x="6364224" y="3364992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264408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manifest retained on resumable runs</a:t>
            </a:r>
          </a:p>
        </p:txBody>
      </p:sp>
      <p:sp>
        <p:nvSpPr>
          <p:cNvPr id="31" name="Oval 30"/>
          <p:cNvSpPr/>
          <p:nvPr/>
        </p:nvSpPr>
        <p:spPr>
          <a:xfrm>
            <a:off x="6364224" y="4023360"/>
            <a:ext cx="91440" cy="91440"/>
          </a:xfrm>
          <a:prstGeom prst="ellipse">
            <a:avLst/>
          </a:prstGeom>
          <a:solidFill>
            <a:srgbClr val="39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922776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deployment catalog on launch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481328"/>
            <a:ext cx="2606040" cy="3246120"/>
          </a:xfrm>
          <a:prstGeom prst="roundRect">
            <a:avLst/>
          </a:prstGeom>
          <a:solidFill>
            <a:srgbClr val="E1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16916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D8766"/>
                </a:solidFill>
                <a:latin typeface="Noto Sans"/>
              </a:defRPr>
            </a:pPr>
            <a:r>
              <a:t>Clean 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20574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5C6A70"/>
                </a:solidFill>
                <a:latin typeface="Noto Sans"/>
              </a:defRPr>
            </a:pPr>
            <a:r>
              <a:t>in an always block</a:t>
            </a:r>
          </a:p>
        </p:txBody>
      </p:sp>
      <p:sp>
        <p:nvSpPr>
          <p:cNvPr id="36" name="Oval 35"/>
          <p:cNvSpPr/>
          <p:nvPr/>
        </p:nvSpPr>
        <p:spPr>
          <a:xfrm>
            <a:off x="9107424" y="2706624"/>
            <a:ext cx="91440" cy="91440"/>
          </a:xfrm>
          <a:prstGeom prst="ellipse">
            <a:avLst/>
          </a:prstGeom>
          <a:solidFill>
            <a:srgbClr val="4D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606040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clone and snapshot removed</a:t>
            </a:r>
          </a:p>
        </p:txBody>
      </p:sp>
      <p:sp>
        <p:nvSpPr>
          <p:cNvPr id="38" name="Oval 37"/>
          <p:cNvSpPr/>
          <p:nvPr/>
        </p:nvSpPr>
        <p:spPr>
          <a:xfrm>
            <a:off x="9107424" y="3364992"/>
            <a:ext cx="91440" cy="91440"/>
          </a:xfrm>
          <a:prstGeom prst="ellipse">
            <a:avLst/>
          </a:prstGeom>
          <a:solidFill>
            <a:srgbClr val="4D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3264408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staging deleted on success</a:t>
            </a:r>
          </a:p>
        </p:txBody>
      </p:sp>
      <p:sp>
        <p:nvSpPr>
          <p:cNvPr id="40" name="Oval 39"/>
          <p:cNvSpPr/>
          <p:nvPr/>
        </p:nvSpPr>
        <p:spPr>
          <a:xfrm>
            <a:off x="9107424" y="4023360"/>
            <a:ext cx="91440" cy="91440"/>
          </a:xfrm>
          <a:prstGeom prst="ellipse">
            <a:avLst/>
          </a:prstGeom>
          <a:solidFill>
            <a:srgbClr val="4D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3922776"/>
            <a:ext cx="202082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7242A"/>
                </a:solidFill>
                <a:latin typeface="Noto Sans"/>
              </a:defRPr>
            </a:pPr>
            <a:r>
              <a:t>failed artifacts retained by target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956048"/>
            <a:ext cx="10835640" cy="1188720"/>
          </a:xfrm>
          <a:prstGeom prst="roundRect">
            <a:avLst/>
          </a:prstGeom>
          <a:solidFill>
            <a:srgbClr val="12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13892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B5BA"/>
                </a:solidFill>
                <a:latin typeface="Noto Sans"/>
              </a:defRPr>
            </a:pPr>
            <a:r>
              <a:t>RECOVERY BY TARGET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FFFFFF"/>
                </a:solidFill>
                <a:latin typeface="DejaVu Sans Mono"/>
              </a:defRPr>
            </a:pPr>
            <a:r>
              <a:t>OpenStack / GCP: -e resume_run_id=&lt;id&gt; reuses the export and completed disk imports.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FFFFFF"/>
                </a:solidFill>
                <a:latin typeface="DejaVu Sans Mono"/>
              </a:defRPr>
            </a:pPr>
            <a:r>
              <a:t>AWS: failed imports retain the staged S3 OVA; -e discard_failed_artifacts=true deletes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C6A70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C6A70"/>
                </a:solidFill>
                <a:latin typeface="Noto Sa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CD0D3"/>
                </a:solidFill>
                <a:latin typeface="Noto Sans"/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Noto Sans"/>
              </a:defRPr>
            </a:pPr>
            <a:r>
              <a:t>What migrate-vmware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45952" cy="22860"/>
          </a:xfrm>
          <a:prstGeom prst="rect">
            <a:avLst/>
          </a:prstGeom>
          <a:solidFill>
            <a:srgbClr val="486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E82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572768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No outage on the source VM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16736" y="2075688"/>
            <a:ext cx="4599432" cy="0"/>
          </a:xfrm>
          <a:prstGeom prst="line">
            <a:avLst/>
          </a:prstGeom>
          <a:ln w="12700">
            <a:solidFill>
              <a:srgbClr val="4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59" y="1627632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4AD3A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7" y="1572768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One shared export pipeline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67727" y="2075688"/>
            <a:ext cx="4599432" cy="0"/>
          </a:xfrm>
          <a:prstGeom prst="line">
            <a:avLst/>
          </a:prstGeom>
          <a:ln w="12700">
            <a:solidFill>
              <a:srgbClr val="4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65176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978A8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596896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Three native cloud paths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16736" y="3099815"/>
            <a:ext cx="4599432" cy="0"/>
          </a:xfrm>
          <a:prstGeom prst="line">
            <a:avLst/>
          </a:prstGeom>
          <a:ln w="12700">
            <a:solidFill>
              <a:srgbClr val="4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59" y="265176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D8766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2596896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Boot + data disks preserved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67727" y="3099815"/>
            <a:ext cx="4599432" cy="0"/>
          </a:xfrm>
          <a:prstGeom prst="line">
            <a:avLst/>
          </a:prstGeom>
          <a:ln w="12700">
            <a:solidFill>
              <a:srgbClr val="4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675887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95D43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621024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Catalog-driven launch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16736" y="4123944"/>
            <a:ext cx="4599432" cy="0"/>
          </a:xfrm>
          <a:prstGeom prst="line">
            <a:avLst/>
          </a:prstGeom>
          <a:ln w="12700">
            <a:solidFill>
              <a:srgbClr val="4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59" y="3675887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E82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7" y="3621024"/>
            <a:ext cx="4617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Recovery by target; catalogs reconcile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67727" y="4123944"/>
            <a:ext cx="4599432" cy="0"/>
          </a:xfrm>
          <a:prstGeom prst="line">
            <a:avLst/>
          </a:prstGeom>
          <a:ln w="12700">
            <a:solidFill>
              <a:srgbClr val="4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5010912"/>
            <a:ext cx="10881360" cy="950976"/>
          </a:xfrm>
          <a:prstGeom prst="roundRect">
            <a:avLst/>
          </a:prstGeom>
          <a:solidFill>
            <a:srgbClr val="1B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02936"/>
            <a:ext cx="103784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From vSphere source to cloud-native service with control.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9EB5BA"/>
                </a:solidFill>
                <a:latin typeface="Noto Sans"/>
              </a:defRPr>
            </a:pPr>
            <a:r>
              <a:t>MIGRATE-VMWARE  |  VSPHERE TO AWS, OPENSTACK, GCP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9EB5BA"/>
                </a:solidFill>
                <a:latin typeface="Noto Sa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