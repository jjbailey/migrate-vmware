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1168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76072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ENGINEERING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6675120" cy="1325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Noto Sans"/>
              </a:defRPr>
            </a:pPr>
            <a:r>
              <a:t>VMware migration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Noto Sans"/>
              </a:defRPr>
            </a:pPr>
            <a:r>
              <a:t>without the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697480"/>
            <a:ext cx="61264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6E1E2"/>
                </a:solidFill>
                <a:latin typeface="Noto Sans"/>
              </a:defRPr>
            </a:pPr>
            <a:r>
              <a:t>Clone safely. Export once. Land natively.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429000"/>
            <a:ext cx="61264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B5BA"/>
                </a:solidFill>
                <a:latin typeface="Noto Sans"/>
              </a:defRPr>
            </a:pPr>
            <a:r>
              <a:t>Ansible-driven migration of a running vSphere VM into AWS, OpenStack, or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440680"/>
            <a:ext cx="5212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EB5BA"/>
                </a:solidFill>
                <a:latin typeface="Noto Sans"/>
              </a:defRPr>
            </a:pPr>
            <a:r>
              <a:t>VSPHERE  /  AWS  /  OPENSTACK  /  GCP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52360" y="1234440"/>
            <a:ext cx="0" cy="4206240"/>
          </a:xfrm>
          <a:prstGeom prst="line">
            <a:avLst/>
          </a:prstGeom>
          <a:ln w="25400">
            <a:solidFill>
              <a:srgbClr val="486B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306056" y="1289304"/>
            <a:ext cx="292608" cy="292608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078992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362456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quiesce + full clone</a:t>
            </a:r>
          </a:p>
        </p:txBody>
      </p:sp>
      <p:sp>
        <p:nvSpPr>
          <p:cNvPr id="12" name="Oval 11"/>
          <p:cNvSpPr/>
          <p:nvPr/>
        </p:nvSpPr>
        <p:spPr>
          <a:xfrm>
            <a:off x="7306056" y="2450592"/>
            <a:ext cx="292608" cy="292608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45552" y="2240280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523744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OVF / OVA + manifest</a:t>
            </a:r>
          </a:p>
        </p:txBody>
      </p:sp>
      <p:sp>
        <p:nvSpPr>
          <p:cNvPr id="15" name="Oval 14"/>
          <p:cNvSpPr/>
          <p:nvPr/>
        </p:nvSpPr>
        <p:spPr>
          <a:xfrm>
            <a:off x="7306056" y="3611879"/>
            <a:ext cx="292608" cy="29260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3401568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IMPORT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3685031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native cloud path</a:t>
            </a:r>
          </a:p>
        </p:txBody>
      </p:sp>
      <p:sp>
        <p:nvSpPr>
          <p:cNvPr id="18" name="Oval 17"/>
          <p:cNvSpPr/>
          <p:nvPr/>
        </p:nvSpPr>
        <p:spPr>
          <a:xfrm>
            <a:off x="7306056" y="4773168"/>
            <a:ext cx="292608" cy="292608"/>
          </a:xfrm>
          <a:prstGeom prst="ellipse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4562856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4846320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from the catalog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PROTECT THE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The source VM never powers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536192"/>
            <a:ext cx="3383280" cy="416052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1810512"/>
            <a:ext cx="1371600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9656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SOURCE 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260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Keeps running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136391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035808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no outage window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666744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3566160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no reboot, no reconfiguration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97096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4096511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untouched after the snapshot</a:t>
            </a:r>
          </a:p>
        </p:txBody>
      </p:sp>
      <p:sp>
        <p:nvSpPr>
          <p:cNvPr id="16" name="Chevron 15"/>
          <p:cNvSpPr/>
          <p:nvPr/>
        </p:nvSpPr>
        <p:spPr>
          <a:xfrm>
            <a:off x="4224528" y="3291840"/>
            <a:ext cx="457200" cy="54864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01184" y="1536192"/>
            <a:ext cx="3383280" cy="4160520"/>
          </a:xfrm>
          <a:prstGeom prst="roundRect">
            <a:avLst/>
          </a:prstGeom>
          <a:solidFill>
            <a:srgbClr val="F4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75504" y="1810512"/>
            <a:ext cx="1371600" cy="292608"/>
          </a:xfrm>
          <a:prstGeom prst="roundRect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1819656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SNAPSHOT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2331720"/>
            <a:ext cx="29260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Consistent boundary</a:t>
            </a:r>
          </a:p>
        </p:txBody>
      </p:sp>
      <p:sp>
        <p:nvSpPr>
          <p:cNvPr id="21" name="Oval 20"/>
          <p:cNvSpPr/>
          <p:nvPr/>
        </p:nvSpPr>
        <p:spPr>
          <a:xfrm>
            <a:off x="5193792" y="3136391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3248" y="3035808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quiesced through VMware Tools</a:t>
            </a:r>
          </a:p>
        </p:txBody>
      </p:sp>
      <p:sp>
        <p:nvSpPr>
          <p:cNvPr id="23" name="Oval 22"/>
          <p:cNvSpPr/>
          <p:nvPr/>
        </p:nvSpPr>
        <p:spPr>
          <a:xfrm>
            <a:off x="5193792" y="3666744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248" y="3566160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one point in time for every disk</a:t>
            </a:r>
          </a:p>
        </p:txBody>
      </p:sp>
      <p:sp>
        <p:nvSpPr>
          <p:cNvPr id="25" name="Oval 24"/>
          <p:cNvSpPr/>
          <p:nvPr/>
        </p:nvSpPr>
        <p:spPr>
          <a:xfrm>
            <a:off x="5193792" y="4197096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13248" y="4096511"/>
            <a:ext cx="27066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removed when the run completes</a:t>
            </a:r>
          </a:p>
        </p:txBody>
      </p:sp>
      <p:sp>
        <p:nvSpPr>
          <p:cNvPr id="27" name="Chevron 26"/>
          <p:cNvSpPr/>
          <p:nvPr/>
        </p:nvSpPr>
        <p:spPr>
          <a:xfrm>
            <a:off x="8503920" y="3291840"/>
            <a:ext cx="457200" cy="54864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80576" y="1536192"/>
            <a:ext cx="2377440" cy="4160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418320" y="1810512"/>
            <a:ext cx="1280160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1819656"/>
            <a:ext cx="12801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FULL CLONE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2331720"/>
            <a:ext cx="20116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Disposable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export copy</a:t>
            </a:r>
          </a:p>
        </p:txBody>
      </p:sp>
      <p:sp>
        <p:nvSpPr>
          <p:cNvPr id="32" name="Oval 31"/>
          <p:cNvSpPr/>
          <p:nvPr/>
        </p:nvSpPr>
        <p:spPr>
          <a:xfrm>
            <a:off x="9436608" y="3410712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56064" y="3310128"/>
            <a:ext cx="17922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created powered off</a:t>
            </a:r>
          </a:p>
        </p:txBody>
      </p:sp>
      <p:sp>
        <p:nvSpPr>
          <p:cNvPr id="34" name="Oval 33"/>
          <p:cNvSpPr/>
          <p:nvPr/>
        </p:nvSpPr>
        <p:spPr>
          <a:xfrm>
            <a:off x="9436608" y="394106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3840480"/>
            <a:ext cx="17922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exported by ovftool</a:t>
            </a:r>
          </a:p>
        </p:txBody>
      </p:sp>
      <p:sp>
        <p:nvSpPr>
          <p:cNvPr id="36" name="Oval 35"/>
          <p:cNvSpPr/>
          <p:nvPr/>
        </p:nvSpPr>
        <p:spPr>
          <a:xfrm>
            <a:off x="9436608" y="4471416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56064" y="4370832"/>
            <a:ext cx="17922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deleted after import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595C"/>
                </a:solidFill>
                <a:latin typeface="Noto Sans"/>
              </a:defRPr>
            </a:pPr>
            <a:r>
              <a:t>The clone is the only thing that leaves vSphere. The original keeps serving 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One common front half. Three native landings.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2011680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26464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SHARED VSPHERE STAGES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4708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929384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preflight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286000"/>
            <a:ext cx="0" cy="109728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" y="239572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50592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78024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snapshot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94560" y="2834640"/>
            <a:ext cx="0" cy="109728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294436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99232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026663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clone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94560" y="3383279"/>
            <a:ext cx="0" cy="109729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8368" y="349300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47872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75303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OVF / OVA export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94560" y="3931920"/>
            <a:ext cx="0" cy="109728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404164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096511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23944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manifest inspection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194560" y="4480560"/>
            <a:ext cx="0" cy="109728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58368" y="4590288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45151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672583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catalog append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94560" y="5029200"/>
            <a:ext cx="0" cy="109727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8368" y="5138927"/>
            <a:ext cx="306324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193791"/>
            <a:ext cx="411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221223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cleanup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21608" y="2240280"/>
            <a:ext cx="804672" cy="1325880"/>
          </a:xfrm>
          <a:prstGeom prst="line">
            <a:avLst/>
          </a:prstGeom>
          <a:ln w="25400">
            <a:solidFill>
              <a:srgbClr val="087E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721608" y="3566160"/>
            <a:ext cx="804672" cy="0"/>
          </a:xfrm>
          <a:prstGeom prst="line">
            <a:avLst/>
          </a:prstGeom>
          <a:ln w="25400">
            <a:solidFill>
              <a:srgbClr val="087E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21608" y="3566160"/>
            <a:ext cx="804672" cy="1325880"/>
          </a:xfrm>
          <a:prstGeom prst="line">
            <a:avLst/>
          </a:prstGeom>
          <a:ln w="25400">
            <a:solidFill>
              <a:srgbClr val="087E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572000" y="1417320"/>
            <a:ext cx="210312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1426464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TARGET-SPECIFIC EDGE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1847088"/>
            <a:ext cx="6949440" cy="1078992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28032" y="1993392"/>
            <a:ext cx="2011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D95D43"/>
                </a:solidFill>
                <a:latin typeface="Noto Sans"/>
              </a:defRPr>
            </a:pPr>
            <a:r>
              <a:t>AWS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2011680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OVA -&gt; S3 -&gt; VM Import -&gt; AMI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2414016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one AMI, block devices intact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0" y="3172968"/>
            <a:ext cx="6949440" cy="1078992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28032" y="3319272"/>
            <a:ext cx="2011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978A8"/>
                </a:solidFill>
                <a:latin typeface="Noto Sans"/>
              </a:defRPr>
            </a:pPr>
            <a:r>
              <a:t>OpenStack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337560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VMDK -&gt; QCOW2 -&gt; Glance images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739896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one image per disk, boot first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0" y="4498848"/>
            <a:ext cx="6949440" cy="1078992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28032" y="4645152"/>
            <a:ext cx="2011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4D8766"/>
                </a:solidFill>
                <a:latin typeface="Noto Sans"/>
              </a:defRPr>
            </a:pPr>
            <a:r>
              <a:t>Google Cloud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4663440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VMDK -&gt; Cloud Storage -&gt; M2VM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5065776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Compute images, boot disk adapted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5870448"/>
            <a:ext cx="69494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Noto Sans"/>
              </a:defRPr>
            </a:pPr>
            <a:r>
              <a:t>Common mechanics stay common. Only the edge varies.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ARTIFACT AND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The OVA is the handoff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44752"/>
            <a:ext cx="192024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53896"/>
            <a:ext cx="192024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EXPORT MANIFEST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47088"/>
            <a:ext cx="4023360" cy="3584448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disk_count: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79" y="210312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79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disks[0].index: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2468879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39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disks[0].path: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79" y="2834639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export-disk1.vmdk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disks[0].capacity_bytes: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79" y="320040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42949672960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disks[0].boot_candidate: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79" y="356616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93192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disks[1].index: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79" y="393192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disks[1].capacity_bytes: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79" y="429768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2147483648000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6344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8CC9C9"/>
                </a:solidFill>
                <a:latin typeface="DejaVu Sans Mono"/>
              </a:defRPr>
            </a:pPr>
            <a:r>
              <a:t>source_mac_addresses: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79" y="4663440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FFFFFF"/>
                </a:solidFill>
                <a:latin typeface="DejaVu Sans Mono"/>
              </a:defRPr>
            </a:pPr>
            <a:r>
              <a:t>[00:50:56:..]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29200"/>
            <a:ext cx="35661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FC4C6"/>
                </a:solidFill>
                <a:latin typeface="Noto Sans"/>
              </a:defRPr>
            </a:pPr>
            <a:r>
              <a:t>target-neutral  /  inspected before upload</a:t>
            </a:r>
          </a:p>
        </p:txBody>
      </p:sp>
      <p:sp>
        <p:nvSpPr>
          <p:cNvPr id="26" name="Chevron 25"/>
          <p:cNvSpPr/>
          <p:nvPr/>
        </p:nvSpPr>
        <p:spPr>
          <a:xfrm>
            <a:off x="4937760" y="3383280"/>
            <a:ext cx="420624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0" y="1444752"/>
            <a:ext cx="1737360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0" y="1453896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CATALOG ENTRY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0" y="1847088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0448" y="1947672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vm_name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1947672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the source VM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0" y="2359152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70448" y="2459736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snapshot_name + clone_name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459736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what was exported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2871216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70448" y="2971800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target_platform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2971800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aws / openstack / gcp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0" y="3383280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70448" y="348386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artifact_type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483864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ova / qcow2 / vmdk set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0" y="3895344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70448" y="3995928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artifact_manifest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995928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the manifest above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0" y="4407408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70448" y="4507992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target result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4507992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AMI, image IDs, selfLinks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0" y="4919472"/>
            <a:ext cx="58521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70448" y="5020056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status + migrated_at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020056"/>
            <a:ext cx="2697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evidence for launch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One run: source, clone, target, and result tied together in catalogs/migration-catalog.json.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TARGET PATH: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AWS: stage in S3, import to an AMI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96012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A70"/>
                </a:solidFill>
                <a:latin typeface="Noto Sans"/>
              </a:defRPr>
            </a:pPr>
            <a:r>
              <a:t>The whole OVA is the import unit. VM Import builds the AMI with every disk attached.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D95D43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s3 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multipart, resumable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22191"/>
            <a:ext cx="1737360" cy="109728"/>
          </a:xfrm>
          <a:prstGeom prst="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505456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71215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IMPORT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import-image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vmimport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71215" y="3822191"/>
            <a:ext cx="1737360" cy="109728"/>
          </a:xfrm>
          <a:prstGeom prst="rect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4718304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4064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5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5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POLL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5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import task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until completed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064" y="3822191"/>
            <a:ext cx="1737360" cy="109728"/>
          </a:xfrm>
          <a:prstGeom prst="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>
            <a:off x="6931152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96912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61504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TAG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Name tag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AMI = vm_name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822191"/>
            <a:ext cx="1737360" cy="109728"/>
          </a:xfrm>
          <a:prstGeom prst="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9144000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09760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74352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74352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RECORD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catalog entry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352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region, AMI, task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60" y="3822191"/>
            <a:ext cx="1737360" cy="109728"/>
          </a:xfrm>
          <a:prstGeom prst="rect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8368" y="4434840"/>
            <a:ext cx="5257800" cy="1234440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61772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95D43"/>
                </a:solidFill>
                <a:latin typeface="Noto Sans"/>
              </a:defRPr>
            </a:pPr>
            <a:r>
              <a:t>ON FAILURE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937760"/>
            <a:ext cx="475488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7242A"/>
                </a:solidFill>
                <a:latin typeface="Noto Sans"/>
              </a:defRPr>
            </a:pPr>
            <a:r>
              <a:t>The unfinished import is cancelled; the staged OVA stays in S3 for a follow-up import without re-export.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434840"/>
            <a:ext cx="5303520" cy="123444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461772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D8766"/>
                </a:solidFill>
                <a:latin typeface="Noto Sans"/>
              </a:defRPr>
            </a:pPr>
            <a:r>
              <a:t>ON SUCCESS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937760"/>
            <a:ext cx="48006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7242A"/>
                </a:solidFill>
                <a:latin typeface="Noto Sans"/>
              </a:defRPr>
            </a:pPr>
            <a:r>
              <a:t>The S3 object, clone, and snapshot are removed. The catalog keeps ami_id, aws_region, and import_task_id.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TARGET PATH: OPENSTACK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OpenStack: one Glance image per disk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A70"/>
                </a:solidFill>
                <a:latin typeface="Noto Sans"/>
              </a:defRPr>
            </a:pPr>
            <a:r>
              <a:t>Each VMDK becomes its own QCOW2 and its own image. Conversion of the next disk overlaps the upload of this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VMDK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96596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QEMU-IMG CONVERT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4768" y="196596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QCOW2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196596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GLANCE 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8600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39572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disk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697480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boot candidate</a:t>
            </a:r>
          </a:p>
        </p:txBody>
      </p:sp>
      <p:sp>
        <p:nvSpPr>
          <p:cNvPr id="14" name="Chevron 13"/>
          <p:cNvSpPr/>
          <p:nvPr/>
        </p:nvSpPr>
        <p:spPr>
          <a:xfrm>
            <a:off x="3127248" y="245059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2286000"/>
            <a:ext cx="2377440" cy="73152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251460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E82"/>
                </a:solidFill>
                <a:latin typeface="Noto Sans"/>
              </a:defRPr>
            </a:pPr>
            <a:r>
              <a:t>convert</a:t>
            </a:r>
          </a:p>
        </p:txBody>
      </p:sp>
      <p:sp>
        <p:nvSpPr>
          <p:cNvPr id="17" name="Chevron 16"/>
          <p:cNvSpPr/>
          <p:nvPr/>
        </p:nvSpPr>
        <p:spPr>
          <a:xfrm>
            <a:off x="5870448" y="245059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44768" y="228600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51460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disk 0.qcow2</a:t>
            </a:r>
          </a:p>
        </p:txBody>
      </p:sp>
      <p:sp>
        <p:nvSpPr>
          <p:cNvPr id="20" name="Chevron 19"/>
          <p:cNvSpPr/>
          <p:nvPr/>
        </p:nvSpPr>
        <p:spPr>
          <a:xfrm>
            <a:off x="8613648" y="245059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87968" y="2286000"/>
            <a:ext cx="2651760" cy="73152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395728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&lt;prefix&gt;-disk-0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697480"/>
            <a:ext cx="23774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hw_firmware_type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4612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35584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disk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657600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data disk</a:t>
            </a:r>
          </a:p>
        </p:txBody>
      </p:sp>
      <p:sp>
        <p:nvSpPr>
          <p:cNvPr id="27" name="Chevron 26"/>
          <p:cNvSpPr/>
          <p:nvPr/>
        </p:nvSpPr>
        <p:spPr>
          <a:xfrm>
            <a:off x="3127248" y="341071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01568" y="3246120"/>
            <a:ext cx="2377440" cy="731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347472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978A8"/>
                </a:solidFill>
                <a:latin typeface="Noto Sans"/>
              </a:defRPr>
            </a:pPr>
            <a:r>
              <a:t>convert</a:t>
            </a:r>
          </a:p>
        </p:txBody>
      </p:sp>
      <p:sp>
        <p:nvSpPr>
          <p:cNvPr id="30" name="Chevron 29"/>
          <p:cNvSpPr/>
          <p:nvPr/>
        </p:nvSpPr>
        <p:spPr>
          <a:xfrm>
            <a:off x="5870448" y="341071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44768" y="347472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disk 1.qcow2</a:t>
            </a:r>
          </a:p>
        </p:txBody>
      </p:sp>
      <p:sp>
        <p:nvSpPr>
          <p:cNvPr id="33" name="Chevron 32"/>
          <p:cNvSpPr/>
          <p:nvPr/>
        </p:nvSpPr>
        <p:spPr>
          <a:xfrm>
            <a:off x="8613648" y="3410712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87968" y="3246120"/>
            <a:ext cx="2651760" cy="731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3355848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&lt;prefix&gt;-disk-1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3657600"/>
            <a:ext cx="23774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Cinder volume at launch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20624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" y="431596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DejaVu Sans Mono"/>
              </a:defRPr>
            </a:pPr>
            <a:r>
              <a:t>disk 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4617720"/>
            <a:ext cx="20116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data disk</a:t>
            </a:r>
          </a:p>
        </p:txBody>
      </p:sp>
      <p:sp>
        <p:nvSpPr>
          <p:cNvPr id="40" name="Chevron 39"/>
          <p:cNvSpPr/>
          <p:nvPr/>
        </p:nvSpPr>
        <p:spPr>
          <a:xfrm>
            <a:off x="3127248" y="4370831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01568" y="4206240"/>
            <a:ext cx="2377440" cy="731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01568" y="443484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978A8"/>
                </a:solidFill>
                <a:latin typeface="Noto Sans"/>
              </a:defRPr>
            </a:pPr>
            <a:r>
              <a:t>convert</a:t>
            </a:r>
          </a:p>
        </p:txBody>
      </p:sp>
      <p:sp>
        <p:nvSpPr>
          <p:cNvPr id="43" name="Chevron 42"/>
          <p:cNvSpPr/>
          <p:nvPr/>
        </p:nvSpPr>
        <p:spPr>
          <a:xfrm>
            <a:off x="5870448" y="4370831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144768" y="420624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44768" y="4434840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DejaVu Sans Mono"/>
              </a:defRPr>
            </a:pPr>
            <a:r>
              <a:t>disk n.qcow2</a:t>
            </a:r>
          </a:p>
        </p:txBody>
      </p:sp>
      <p:sp>
        <p:nvSpPr>
          <p:cNvPr id="46" name="Chevron 45"/>
          <p:cNvSpPr/>
          <p:nvPr/>
        </p:nvSpPr>
        <p:spPr>
          <a:xfrm>
            <a:off x="8613648" y="4370831"/>
            <a:ext cx="274320" cy="402336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887968" y="4206240"/>
            <a:ext cx="2651760" cy="731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0" y="4315968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&lt;prefix&gt;-disk-n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2560" y="4617720"/>
            <a:ext cx="23774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Cinder volume at launch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" y="525780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422392"/>
            <a:ext cx="47548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Noto Sans"/>
              </a:defRPr>
            </a:pPr>
            <a:r>
              <a:t>Peak staging space is two QCOW2 files, never the whole set. Disks already in Glance are skipped on resume.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5257800"/>
            <a:ext cx="5303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5422392"/>
            <a:ext cx="48006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Noto Sans"/>
              </a:defRPr>
            </a:pPr>
            <a:r>
              <a:t>Launch boots from image 0, creates Cinder volumes for the rest, and can reuse the source MAC addresses.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TARGET PATH: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Google Cloud: Cloud Storage to Migrate to VMs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A70"/>
                </a:solidFill>
                <a:latin typeface="Noto Sans"/>
              </a:defRPr>
            </a:pPr>
            <a:r>
              <a:t>Three phases: stage every VMDK, start every import, then wait. Total time is the slowest disk, not the sum.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10881360" cy="1024128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12264"/>
            <a:ext cx="1005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D95D43"/>
                </a:solidFill>
                <a:latin typeface="Noto Sans"/>
              </a:defRPr>
            </a:pPr>
            <a: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14630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12264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7242A"/>
                </a:solidFill>
                <a:latin typeface="DejaVu Sans Mono"/>
              </a:defRPr>
            </a:pPr>
            <a:r>
              <a:t>gcloud storage 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42316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VMDK -&gt; gs://bucket/prefix/disk-N.vmdk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40279"/>
            <a:ext cx="40233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7242A"/>
                </a:solidFill>
                <a:latin typeface="Noto Sans"/>
              </a:defRPr>
            </a:pPr>
            <a:r>
              <a:t>parallel chunks; existing objects reused on resume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172968"/>
            <a:ext cx="10881360" cy="1024128"/>
          </a:xfrm>
          <a:prstGeom prst="roundRect">
            <a:avLst/>
          </a:prstGeom>
          <a:solidFill>
            <a:srgbClr val="F4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1005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57015"/>
            <a:ext cx="14630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319272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7242A"/>
                </a:solidFill>
                <a:latin typeface="DejaVu Sans Mono"/>
              </a:defRPr>
            </a:pPr>
            <a:r>
              <a:t>gcloud migration vms image-imports create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630168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one job per disk, all started before 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447287"/>
            <a:ext cx="40233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7242A"/>
                </a:solidFill>
                <a:latin typeface="Noto Sans"/>
              </a:defRPr>
            </a:pPr>
            <a:r>
              <a:t>boot disk: OS adaptation; data disks: --skip-os-adaptation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79976"/>
            <a:ext cx="1088136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05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64024"/>
            <a:ext cx="14630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52628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7242A"/>
                </a:solidFill>
                <a:latin typeface="DejaVu Sans Mono"/>
              </a:defRPr>
            </a:pPr>
            <a:r>
              <a:t>poll each job, record selfLink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837176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Compute Engine image per disk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654296"/>
            <a:ext cx="40233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7242A"/>
                </a:solidFill>
                <a:latin typeface="Noto Sans"/>
              </a:defRPr>
            </a:pPr>
            <a:r>
              <a:t>import resources removed when done; failures show service diagnostics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669280"/>
            <a:ext cx="108813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D8766"/>
                </a:solidFill>
                <a:latin typeface="Noto Sans"/>
              </a:defRPr>
            </a:pPr>
            <a:r>
              <a:t>Launch creates the instance from the boot image and attaches persistent disks built from the data images.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TWO-STEP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Migration and launch are separate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5577840" cy="420624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1554480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MIGRATE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286000"/>
            <a:ext cx="402336" cy="402336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59152"/>
            <a:ext cx="40233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snapshot and clone the source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035808"/>
            <a:ext cx="402336" cy="402336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08960"/>
            <a:ext cx="40233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81527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export, import, and poll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785615"/>
            <a:ext cx="402336" cy="402336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58768"/>
            <a:ext cx="40233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31336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record the result in the catalog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4535423"/>
            <a:ext cx="402336" cy="402336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608575"/>
            <a:ext cx="40233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581144"/>
            <a:ext cx="45720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clean up clone, snapshot, staging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30368"/>
            <a:ext cx="5120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7595C"/>
                </a:solidFill>
                <a:latin typeface="Noto Sans"/>
              </a:defRPr>
            </a:pPr>
            <a:r>
              <a:t>produces a cloud-native image set</a:t>
            </a:r>
          </a:p>
        </p:txBody>
      </p:sp>
      <p:sp>
        <p:nvSpPr>
          <p:cNvPr id="22" name="Chevron 21"/>
          <p:cNvSpPr/>
          <p:nvPr/>
        </p:nvSpPr>
        <p:spPr>
          <a:xfrm>
            <a:off x="6382512" y="3291840"/>
            <a:ext cx="457200" cy="54864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95160" y="1481328"/>
            <a:ext cx="4526280" cy="420624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51192" y="1737360"/>
            <a:ext cx="1463040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1192" y="1746504"/>
            <a:ext cx="146304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LAUNCH</a:t>
            </a:r>
          </a:p>
        </p:txBody>
      </p:sp>
      <p:sp>
        <p:nvSpPr>
          <p:cNvPr id="26" name="Oval 25"/>
          <p:cNvSpPr/>
          <p:nvPr/>
        </p:nvSpPr>
        <p:spPr>
          <a:xfrm>
            <a:off x="7269480" y="2432303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88936" y="2331720"/>
            <a:ext cx="380390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7242A"/>
                </a:solidFill>
                <a:latin typeface="Noto Sans"/>
              </a:defRPr>
            </a:pPr>
            <a:r>
              <a:t>reads the newest completed entry</a:t>
            </a:r>
          </a:p>
        </p:txBody>
      </p:sp>
      <p:sp>
        <p:nvSpPr>
          <p:cNvPr id="28" name="Oval 27"/>
          <p:cNvSpPr/>
          <p:nvPr/>
        </p:nvSpPr>
        <p:spPr>
          <a:xfrm>
            <a:off x="7269480" y="307238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8936" y="2971800"/>
            <a:ext cx="380390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7242A"/>
                </a:solidFill>
                <a:latin typeface="Noto Sans"/>
              </a:defRPr>
            </a:pPr>
            <a:r>
              <a:t>or an explicit AMI / image ID</a:t>
            </a:r>
          </a:p>
        </p:txBody>
      </p:sp>
      <p:sp>
        <p:nvSpPr>
          <p:cNvPr id="30" name="Oval 29"/>
          <p:cNvSpPr/>
          <p:nvPr/>
        </p:nvSpPr>
        <p:spPr>
          <a:xfrm>
            <a:off x="7269480" y="3712463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8936" y="3611879"/>
            <a:ext cx="380390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7242A"/>
                </a:solidFill>
                <a:latin typeface="Noto Sans"/>
              </a:defRPr>
            </a:pPr>
            <a:r>
              <a:t>creates instance + data disks</a:t>
            </a:r>
          </a:p>
        </p:txBody>
      </p:sp>
      <p:sp>
        <p:nvSpPr>
          <p:cNvPr id="32" name="Oval 31"/>
          <p:cNvSpPr/>
          <p:nvPr/>
        </p:nvSpPr>
        <p:spPr>
          <a:xfrm>
            <a:off x="7269480" y="435254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88936" y="4251959"/>
            <a:ext cx="380390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7242A"/>
                </a:solidFill>
                <a:latin typeface="Noto Sans"/>
              </a:defRPr>
            </a:pPr>
            <a:r>
              <a:t>records a deployment entry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1192" y="5230368"/>
            <a:ext cx="40233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3978A8"/>
                </a:solidFill>
                <a:latin typeface="Noto Sans"/>
              </a:defRPr>
            </a:pPr>
            <a:r>
              <a:t>runs when someone decides it should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Retries touch only the half that failed. Approval stays a visible, human step.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REPOSITORY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Thin entry points over shared tasks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35204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64208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95D43"/>
                </a:solidFill>
                <a:latin typeface="DejaVu Sans Mono"/>
              </a:defRPr>
            </a:pPr>
            <a:r>
              <a:t>migrate-aws-vm.yml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14015" y="2121408"/>
            <a:ext cx="0" cy="347472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15968" y="1481328"/>
            <a:ext cx="35204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15968" y="1664208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978A8"/>
                </a:solidFill>
                <a:latin typeface="DejaVu Sans Mono"/>
              </a:defRPr>
            </a:pPr>
            <a:r>
              <a:t>migrate-openstack-vm.yml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71616" y="2121408"/>
            <a:ext cx="0" cy="347472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73568" y="1481328"/>
            <a:ext cx="35204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664208"/>
            <a:ext cx="3520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D8766"/>
                </a:solidFill>
                <a:latin typeface="DejaVu Sans Mono"/>
              </a:defRPr>
            </a:pPr>
            <a:r>
              <a:t>migrate-gcp-vm.yml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29216" y="2121408"/>
            <a:ext cx="0" cy="347472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2468880"/>
            <a:ext cx="10835640" cy="1417320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633472"/>
            <a:ext cx="3657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EB5BA"/>
                </a:solidFill>
                <a:latin typeface="DejaVu Sans Mono"/>
              </a:defRPr>
            </a:pPr>
            <a:r>
              <a:t>TASKS/MIGRATION/COMMON/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preflight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select-vcenter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export-ova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79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79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load-manifest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resume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append-catalog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66959" y="3017520"/>
            <a:ext cx="1371600" cy="566928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9" y="31729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FFFFFF"/>
                </a:solidFill>
                <a:latin typeface="DejaVu Sans Mono"/>
              </a:defRPr>
            </a:pPr>
            <a:r>
              <a:t>cleanup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414015" y="3886200"/>
            <a:ext cx="0" cy="32004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8368" y="4206240"/>
            <a:ext cx="3520440" cy="1645920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34340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DejaVu Sans Mono"/>
              </a:defRPr>
            </a:pPr>
            <a:r>
              <a:t>AWS/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preflight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7860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initialize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import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build-catalog-entry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" y="537667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cleanup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71616" y="3886200"/>
            <a:ext cx="0" cy="32004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15968" y="4206240"/>
            <a:ext cx="3520440" cy="16459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4568" y="434340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DejaVu Sans Mono"/>
              </a:defRPr>
            </a:pPr>
            <a:r>
              <a:t>OPENSTACK/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456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preflight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initialize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456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import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build-catalog-entry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44568" y="537667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cleanup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729216" y="3886200"/>
            <a:ext cx="0" cy="32004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7973568" y="4206240"/>
            <a:ext cx="3520440" cy="164592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02168" y="434340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DejaVu Sans Mono"/>
              </a:defRPr>
            </a:pPr>
            <a:r>
              <a:t>GCP/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216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preflight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64515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initialize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0216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import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93808" y="50109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build-catalog-entry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02168" y="537667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17242A"/>
                </a:solidFill>
                <a:latin typeface="DejaVu Sans Mono"/>
              </a:defRPr>
            </a:pPr>
            <a:r>
              <a:t>cleanup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A new target adds one directory and one playbook. It never edits the front half.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MULTI-DISK GUESTS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Disk intent survives the crossing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44752"/>
            <a:ext cx="173736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53896"/>
            <a:ext cx="1737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VSPHERE GUEST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47088"/>
            <a:ext cx="3017520" cy="3611880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103120"/>
            <a:ext cx="2468880" cy="822960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12848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 Mono"/>
              </a:defRPr>
            </a:pPr>
            <a:r>
              <a:t>disk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31136"/>
            <a:ext cx="1051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CC9C9"/>
                </a:solidFill>
                <a:latin typeface="DejaVu Sans Mono"/>
              </a:defRPr>
            </a:pPr>
            <a:r>
              <a:t>40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FC4C6"/>
                </a:solidFill>
                <a:latin typeface="Noto Sans"/>
              </a:defRPr>
            </a:pPr>
            <a:r>
              <a:t>boot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54679"/>
            <a:ext cx="2468880" cy="822960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64408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 Mono"/>
              </a:defRPr>
            </a:pPr>
            <a:r>
              <a:t>disk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82696"/>
            <a:ext cx="1051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CC9C9"/>
                </a:solidFill>
                <a:latin typeface="DejaVu Sans Mono"/>
              </a:defRPr>
            </a:pPr>
            <a:r>
              <a:t>2 TB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11879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FC4C6"/>
                </a:solidFill>
                <a:latin typeface="Noto Sans"/>
              </a:defRPr>
            </a:pPr>
            <a:r>
              <a:t>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2468880" cy="822960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 Mono"/>
              </a:defRPr>
            </a:pPr>
            <a:r>
              <a:t>disk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334255"/>
            <a:ext cx="1051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8CC9C9"/>
                </a:solidFill>
                <a:latin typeface="DejaVu Sans Mono"/>
              </a:defRPr>
            </a:pPr>
            <a:r>
              <a:t>500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66344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FC4C6"/>
                </a:solidFill>
                <a:latin typeface="Noto Sans"/>
              </a:defRPr>
            </a:pPr>
            <a:r>
              <a:t>data</a:t>
            </a:r>
          </a:p>
        </p:txBody>
      </p:sp>
      <p:sp>
        <p:nvSpPr>
          <p:cNvPr id="21" name="Chevron 20"/>
          <p:cNvSpPr/>
          <p:nvPr/>
        </p:nvSpPr>
        <p:spPr>
          <a:xfrm>
            <a:off x="3886200" y="3401568"/>
            <a:ext cx="420624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7" y="3977639"/>
            <a:ext cx="8686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manifest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index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1847088"/>
            <a:ext cx="6858000" cy="1051560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99339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D95D43"/>
                </a:solidFill>
                <a:latin typeface="Noto Sans"/>
              </a:defRPr>
            </a:pPr>
            <a:r>
              <a:t>AWS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1975104"/>
            <a:ext cx="4572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one AMI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50008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all three disks as block device mappings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3081528"/>
            <a:ext cx="6858000" cy="105156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322783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978A8"/>
                </a:solidFill>
                <a:latin typeface="Noto Sans"/>
              </a:defRPr>
            </a:pPr>
            <a:r>
              <a:t>OpenStack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209544"/>
            <a:ext cx="4572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image 0 boots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584448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images 1, 2 become Cinder volumes sized from capacity_bytes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4315968"/>
            <a:ext cx="6858000" cy="105156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19472" y="4462272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4D8766"/>
                </a:solidFill>
                <a:latin typeface="Noto Sans"/>
              </a:defRPr>
            </a:pPr>
            <a:r>
              <a:t>Google Cloud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443984"/>
            <a:ext cx="4572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image 0 adapted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818888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images 1, 2 become attached persistent disks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A boot disk plus separately managed data disks, not one opaque blob.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OPERATOR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A small command surface over cloud complexity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2606040" cy="233172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642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MIGRATE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5740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migrate-aws-vm.sh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56032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migrate-openstack-vm.sh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6324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migrate-gcp-vm.sh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481328"/>
            <a:ext cx="2606040" cy="23317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16642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2736" y="205740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launch-*-instance.sh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256032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launch-*-dialog.sh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306324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vm_name or explicit 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481328"/>
            <a:ext cx="2606040" cy="2331720"/>
          </a:xfrm>
          <a:prstGeom prst="roundRect">
            <a:avLst/>
          </a:prstGeom>
          <a:solidFill>
            <a:srgbClr val="F4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6642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E4AD3A"/>
                </a:solidFill>
                <a:latin typeface="Noto Sans"/>
              </a:defRPr>
            </a:pPr>
            <a:r>
              <a:t>INSPECT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205740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inspect-ova.py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56032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lookup-migration-*.py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06324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-e resume_run_id=&lt;id&gt;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1481328"/>
            <a:ext cx="2606040" cy="233172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89136" y="16642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CATALOG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205740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append-*-catalog.py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56032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reconcile-catalog-*.py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063240"/>
            <a:ext cx="22860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--dry-run / --force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069080"/>
            <a:ext cx="3520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2245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87E82"/>
                </a:solidFill>
                <a:latin typeface="Noto Sans"/>
              </a:defRPr>
            </a:pPr>
            <a:r>
              <a:t>Vaults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45262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vsphere, aws, openstack, gcp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4864608"/>
            <a:ext cx="31089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C6A70"/>
                </a:solidFill>
                <a:latin typeface="Noto Sans"/>
              </a:defRPr>
            </a:pPr>
            <a:r>
              <a:t>edit-vault.sh; multi-vCenter and multi-project keys in one file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069080"/>
            <a:ext cx="3520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42245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978A8"/>
                </a:solidFill>
                <a:latin typeface="Noto Sans"/>
              </a:defRPr>
            </a:pPr>
            <a:r>
              <a:t>Requirements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5262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requirements.yml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4568" y="4864608"/>
            <a:ext cx="31089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C6A70"/>
                </a:solidFill>
                <a:latin typeface="Noto Sans"/>
              </a:defRPr>
            </a:pPr>
            <a:r>
              <a:t>pinned collections; validated ovftool 5.1.0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8" y="4069080"/>
            <a:ext cx="352044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2168" y="4224528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D8766"/>
                </a:solidFill>
                <a:latin typeface="Noto Sans"/>
              </a:defRPr>
            </a:pPr>
            <a:r>
              <a:t>Wrappers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45262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7242A"/>
                </a:solidFill>
                <a:latin typeface="DejaVu Sans Mono"/>
              </a:defRPr>
            </a:pPr>
            <a:r>
              <a:t>bin/*.sh over run-playbook.sh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4864608"/>
            <a:ext cx="31089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C6A70"/>
                </a:solidFill>
                <a:latin typeface="Noto Sans"/>
              </a:defRPr>
            </a:pPr>
            <a:r>
              <a:t>dialogs prompt for flavor, network, keys, then run the playbook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897880"/>
            <a:ext cx="108813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One clear wrapper per action. The playbooks stay reviewable and idempotent.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Controls that make retries 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2606040" cy="3246120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9164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D95D43"/>
                </a:solidFill>
                <a:latin typeface="Noto Sans"/>
              </a:defRPr>
            </a:pPr>
            <a:r>
              <a:t>Preflight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05740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C6A70"/>
                </a:solidFill>
                <a:latin typeface="Noto Sans"/>
              </a:defRPr>
            </a:pPr>
            <a:r>
              <a:t>stop before export</a:t>
            </a:r>
          </a:p>
        </p:txBody>
      </p:sp>
      <p:sp>
        <p:nvSpPr>
          <p:cNvPr id="9" name="Oval 8"/>
          <p:cNvSpPr/>
          <p:nvPr/>
        </p:nvSpPr>
        <p:spPr>
          <a:xfrm>
            <a:off x="877824" y="2706624"/>
            <a:ext cx="91440" cy="91440"/>
          </a:xfrm>
          <a:prstGeom prst="ellipse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vault + credentials asserted</a:t>
            </a:r>
          </a:p>
        </p:txBody>
      </p:sp>
      <p:sp>
        <p:nvSpPr>
          <p:cNvPr id="11" name="Oval 10"/>
          <p:cNvSpPr/>
          <p:nvPr/>
        </p:nvSpPr>
        <p:spPr>
          <a:xfrm>
            <a:off x="877824" y="3364992"/>
            <a:ext cx="91440" cy="91440"/>
          </a:xfrm>
          <a:prstGeom prst="ellipse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64408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ovftool and govc present</a:t>
            </a:r>
          </a:p>
        </p:txBody>
      </p:sp>
      <p:sp>
        <p:nvSpPr>
          <p:cNvPr id="13" name="Oval 12"/>
          <p:cNvSpPr/>
          <p:nvPr/>
        </p:nvSpPr>
        <p:spPr>
          <a:xfrm>
            <a:off x="877824" y="4023360"/>
            <a:ext cx="91440" cy="91440"/>
          </a:xfrm>
          <a:prstGeom prst="ellipse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22776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bucket, role, project, quota checked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1481328"/>
            <a:ext cx="2606040" cy="3246120"/>
          </a:xfrm>
          <a:prstGeom prst="roundRect">
            <a:avLst/>
          </a:prstGeom>
          <a:solidFill>
            <a:srgbClr val="F4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169164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E4AD3A"/>
                </a:solidFill>
                <a:latin typeface="Noto Sans"/>
              </a:defRPr>
            </a:pPr>
            <a:r>
              <a:t>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05740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C6A70"/>
                </a:solidFill>
                <a:latin typeface="Noto Sans"/>
              </a:defRPr>
            </a:pPr>
            <a:r>
              <a:t>wait on the cloud</a:t>
            </a:r>
          </a:p>
        </p:txBody>
      </p:sp>
      <p:sp>
        <p:nvSpPr>
          <p:cNvPr id="18" name="Oval 17"/>
          <p:cNvSpPr/>
          <p:nvPr/>
        </p:nvSpPr>
        <p:spPr>
          <a:xfrm>
            <a:off x="3621024" y="2706624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606040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import task / job state</a:t>
            </a:r>
          </a:p>
        </p:txBody>
      </p:sp>
      <p:sp>
        <p:nvSpPr>
          <p:cNvPr id="20" name="Oval 19"/>
          <p:cNvSpPr/>
          <p:nvPr/>
        </p:nvSpPr>
        <p:spPr>
          <a:xfrm>
            <a:off x="3621024" y="3364992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3264408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bounded retries and delay</a:t>
            </a:r>
          </a:p>
        </p:txBody>
      </p:sp>
      <p:sp>
        <p:nvSpPr>
          <p:cNvPr id="22" name="Oval 21"/>
          <p:cNvSpPr/>
          <p:nvPr/>
        </p:nvSpPr>
        <p:spPr>
          <a:xfrm>
            <a:off x="3621024" y="4023360"/>
            <a:ext cx="91440" cy="91440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22776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service-side diagnostics on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1481328"/>
            <a:ext cx="2606040" cy="32461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169164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978A8"/>
                </a:solidFill>
                <a:latin typeface="Noto Sans"/>
              </a:defRPr>
            </a:pPr>
            <a:r>
              <a:t>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5740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C6A70"/>
                </a:solidFill>
                <a:latin typeface="Noto Sans"/>
              </a:defRPr>
            </a:pPr>
            <a:r>
              <a:t>preserve evidence</a:t>
            </a:r>
          </a:p>
        </p:txBody>
      </p:sp>
      <p:sp>
        <p:nvSpPr>
          <p:cNvPr id="27" name="Oval 26"/>
          <p:cNvSpPr/>
          <p:nvPr/>
        </p:nvSpPr>
        <p:spPr>
          <a:xfrm>
            <a:off x="6364224" y="270662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606040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catalog entry after success</a:t>
            </a:r>
          </a:p>
        </p:txBody>
      </p:sp>
      <p:sp>
        <p:nvSpPr>
          <p:cNvPr id="29" name="Oval 28"/>
          <p:cNvSpPr/>
          <p:nvPr/>
        </p:nvSpPr>
        <p:spPr>
          <a:xfrm>
            <a:off x="6364224" y="3364992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264408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manifest kept with the run</a:t>
            </a:r>
          </a:p>
        </p:txBody>
      </p:sp>
      <p:sp>
        <p:nvSpPr>
          <p:cNvPr id="31" name="Oval 30"/>
          <p:cNvSpPr/>
          <p:nvPr/>
        </p:nvSpPr>
        <p:spPr>
          <a:xfrm>
            <a:off x="6364224" y="4023360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922776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deployment catalog on launch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87968" y="1481328"/>
            <a:ext cx="2606040" cy="324612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1691640"/>
            <a:ext cx="21945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4D8766"/>
                </a:solidFill>
                <a:latin typeface="Noto Sans"/>
              </a:defRPr>
            </a:pPr>
            <a:r>
              <a:t>Clean 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9136" y="205740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C6A70"/>
                </a:solidFill>
                <a:latin typeface="Noto Sans"/>
              </a:defRPr>
            </a:pPr>
            <a:r>
              <a:t>in an always block</a:t>
            </a:r>
          </a:p>
        </p:txBody>
      </p:sp>
      <p:sp>
        <p:nvSpPr>
          <p:cNvPr id="36" name="Oval 35"/>
          <p:cNvSpPr/>
          <p:nvPr/>
        </p:nvSpPr>
        <p:spPr>
          <a:xfrm>
            <a:off x="9107424" y="2706624"/>
            <a:ext cx="91440" cy="91440"/>
          </a:xfrm>
          <a:prstGeom prst="ellipse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2606040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clone and snapshot removed</a:t>
            </a:r>
          </a:p>
        </p:txBody>
      </p:sp>
      <p:sp>
        <p:nvSpPr>
          <p:cNvPr id="38" name="Oval 37"/>
          <p:cNvSpPr/>
          <p:nvPr/>
        </p:nvSpPr>
        <p:spPr>
          <a:xfrm>
            <a:off x="9107424" y="3364992"/>
            <a:ext cx="91440" cy="91440"/>
          </a:xfrm>
          <a:prstGeom prst="ellipse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3264408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staging deleted on success</a:t>
            </a:r>
          </a:p>
        </p:txBody>
      </p:sp>
      <p:sp>
        <p:nvSpPr>
          <p:cNvPr id="40" name="Oval 39"/>
          <p:cNvSpPr/>
          <p:nvPr/>
        </p:nvSpPr>
        <p:spPr>
          <a:xfrm>
            <a:off x="9107424" y="4023360"/>
            <a:ext cx="91440" cy="91440"/>
          </a:xfrm>
          <a:prstGeom prst="ellipse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3922776"/>
            <a:ext cx="2020824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7242A"/>
                </a:solidFill>
                <a:latin typeface="Noto Sans"/>
              </a:defRPr>
            </a:pPr>
            <a:r>
              <a:t>failed runs keep resumable artifacts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956048"/>
            <a:ext cx="10835640" cy="1188720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138928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EB5BA"/>
                </a:solidFill>
                <a:latin typeface="Noto Sans"/>
              </a:defRPr>
            </a:pPr>
            <a:r>
              <a:t>RESUME A FAILED RUN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394960"/>
            <a:ext cx="10332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FFFFFF"/>
                </a:solidFill>
                <a:latin typeface="DejaVu Sans Mono"/>
              </a:defRPr>
            </a:pPr>
            <a:r>
              <a:t>-e resume_run_id=&lt;id&gt;              reuses the export and any disks already imported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FFFFFF"/>
                </a:solidFill>
                <a:latin typeface="DejaVu Sans Mono"/>
              </a:defRPr>
            </a:pPr>
            <a:r>
              <a:t>-e discard_failed_artifacts=true   deletes the retained artifacts instead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BCD0D3"/>
                </a:solidFill>
                <a:latin typeface="Noto Sans"/>
              </a:defRPr>
            </a:pPr>
            <a: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Noto Sans"/>
              </a:defRPr>
            </a:pPr>
            <a:r>
              <a:t>What migrate-vmware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486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572768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No outage on the source VM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16736" y="2075688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59" y="1627632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E4AD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7" y="1572768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One shared export pipeline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67727" y="2075688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651760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596896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Three native cloud paths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16736" y="3099815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59" y="2651760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2596896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Boot + data disks preserved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67727" y="3099815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675887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3621024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Catalog-driven launch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16736" y="4123944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09359" y="3675887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7" y="3621024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Resumable, reconciled runs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67727" y="4123944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5010912"/>
            <a:ext cx="10881360" cy="950976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02936"/>
            <a:ext cx="103784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From vSphere source to cloud-native service with control.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9EB5BA"/>
                </a:solidFill>
                <a:latin typeface="Noto Sans"/>
              </a:defRPr>
            </a:pPr>
            <a:r>
              <a:t>MIGRATE-VMWARE  |  VSPHERE TO AWS, OPENSTACK, GCP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9EB5BA"/>
                </a:solidFill>
                <a:latin typeface="Noto San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